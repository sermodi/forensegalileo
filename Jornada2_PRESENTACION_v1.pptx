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27"/>
    <p:sldId id="262" r:id="rId7"/>
    <p:sldId id="263" r:id="rId28"/>
    <p:sldId id="264" r:id="rId8"/>
    <p:sldId id="265" r:id="rId29"/>
    <p:sldId id="266" r:id="rId9"/>
    <p:sldId id="267" r:id="rId30"/>
    <p:sldId id="268" r:id="rId10"/>
    <p:sldId id="269" r:id="rId31"/>
    <p:sldId id="270" r:id="rId32"/>
    <p:sldId id="271" r:id="rId11"/>
    <p:sldId id="272" r:id="rId33"/>
    <p:sldId id="273" r:id="rId34"/>
    <p:sldId id="274" r:id="rId35"/>
    <p:sldId id="275" r:id="rId36"/>
    <p:sldId id="276" r:id="rId37"/>
    <p:sldId id="277" r:id="rId12"/>
    <p:sldId id="278" r:id="rId13"/>
    <p:sldId id="279" r:id="rId14"/>
    <p:sldId id="280" r:id="rId38"/>
    <p:sldId id="281" r:id="rId39"/>
    <p:sldId id="282" r:id="rId40"/>
    <p:sldId id="283" r:id="rId15"/>
    <p:sldId id="284" r:id="rId41"/>
    <p:sldId id="285" r:id="rId42"/>
    <p:sldId id="286" r:id="rId16"/>
    <p:sldId id="287" r:id="rId43"/>
    <p:sldId id="288" r:id="rId44"/>
    <p:sldId id="289" r:id="rId17"/>
    <p:sldId id="290" r:id="rId45"/>
    <p:sldId id="291" r:id="rId46"/>
    <p:sldId id="292" r:id="rId18"/>
    <p:sldId id="293" r:id="rId47"/>
    <p:sldId id="294" r:id="rId48"/>
    <p:sldId id="295" r:id="rId49"/>
    <p:sldId id="296" r:id="rId50"/>
    <p:sldId id="297" r:id="rId51"/>
    <p:sldId id="298" r:id="rId19"/>
    <p:sldId id="299" r:id="rId20"/>
    <p:sldId id="300" r:id="rId21"/>
    <p:sldId id="301" r:id="rId52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096512"/>
            <a:ext cx="1964131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4096512"/>
            <a:ext cx="1291133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096512"/>
            <a:ext cx="954634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4096512"/>
            <a:ext cx="702259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4096512"/>
            <a:ext cx="702259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INTENSIVA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Forense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Python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2 — 4 horas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1872691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60520"/>
            <a:ext cx="1872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SQLite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4160520"/>
            <a:ext cx="1199693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4160520"/>
            <a:ext cx="11996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4160520"/>
            <a:ext cx="86319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160520"/>
            <a:ext cx="863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4160520"/>
            <a:ext cx="61081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160520"/>
            <a:ext cx="610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4160520"/>
            <a:ext cx="61081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4160520"/>
            <a:ext cx="610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Jornada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2 bloques · 1 descanso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1488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forense de JSON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sospechosos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forense · Ejercicio integrador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234440"/>
            <a:ext cx="21488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café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234440"/>
            <a:ext cx="21488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228600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binarios con struct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forenses y timestomping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con psutil · Ejercicio final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52360" y="123444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234440"/>
            <a:ext cx="13716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Preview Jornada 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84632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22376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jornada el alumno será capaz de…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207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Parsear y analizar artefactos JSON: timestamps ISO 8601 y detección de patrones sospechosos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93392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33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evidencias de SQLite, incluyendo registros borrados y cabecera binaria con struct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4378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43784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4378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907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estructuras de datos binarias con struct: Prefetch, cabeceras de archivo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94176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94176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9417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entre formatos de timestamp forense: Unix, FILETIME, HFS+ y WebKit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43000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430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1207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timestomping y construir una timeline integrada de múltiples fuentes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99339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993392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933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triage de sistema en vivo con psutil y generar un snapshot firmado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84378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43784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4378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2907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SQLite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Detección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Patrones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minutos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34340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forense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4343400"/>
            <a:ext cx="1554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sospechosos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434340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forense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como Fuente de Evidencia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· Estructura · Contexto forense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JSON forense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3035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3619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 (JavaScript Object Notation) es el formato de intercambio de datos más extendido en aplicaciones modernas. Desde logs de actividad hasta historiales de geolocalización, el investigador lo encuentra en 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cualquier caso tecnológico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Ligero, legible por humanos y parseable por máquinas: es a la vez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evidencia y formato de exportación de nuestros scripts.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1463040"/>
            <a:ext cx="14630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463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móviles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1463040"/>
            <a:ext cx="14630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463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sistema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2267712"/>
            <a:ext cx="14630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2677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cloud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267712"/>
            <a:ext cx="14630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2677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IoT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aparece en: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155448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Historial actividad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74520" y="345186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3200400"/>
            <a:ext cx="1554480" cy="502920"/>
          </a:xfrm>
          <a:prstGeom prst="rect">
            <a:avLst/>
          </a:prstGeom>
          <a:solidFill>
            <a:srgbClr val="0E4F6E"/>
          </a:solidFill>
          <a:ln w="12700">
            <a:solidFill>
              <a:srgbClr val="0E4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Registros acceso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1880" y="345186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3200400"/>
            <a:ext cx="1554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Telemetría GPS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345186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200400"/>
            <a:ext cx="1554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Mensajes cifrados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86600" y="345186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3200400"/>
            <a:ext cx="15544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Backups cloud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37947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con JSON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114800"/>
            <a:ext cx="8503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148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Regla forense: siempre calcular el hash SHA-256 del fichero JSON </a:t>
            </a:r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abrirlo</a:t>
            </a:r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Un solo carácter añadido invalida la cadena de custodia.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Validación de JSON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hash previo · json.load() · Validar estructura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json module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85039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63040"/>
            <a:ext cx="5029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08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json es estándar en Python — no requiere instalación. El patrón forense es siempre el mismo: hash → carga → validación.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JSONDecodeError indica fichero corrupto o manipulado. Registrar siempre en el informe.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06040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06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" y="30540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previo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4015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del fichero ANTES de abrirlo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92808" y="3342132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260604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57400" y="2606040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606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21408" y="30540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21408" y="34015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json.load(f) → dict/list Python nativo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30168" y="3342132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260604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94760" y="2606040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606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0540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8768" y="34015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tipo, campos y encoding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67528" y="3342132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60604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2606040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606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6128" y="30540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Filtrar, ordenar, detectar anomalías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04888" y="3342132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260604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69480" y="2606040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2606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33488" y="30540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33488" y="34015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 JSON normalizado para el informe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Nunca abrir el JSON sin calcular el hash previo. Si el script falla y modifica el fichero, la evidencia original queda comprometida.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ISO 8601 en JSON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· Parsing · Zona horaria · Conversión UTC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Timestamps JSON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50292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&gt;_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ISO 8601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"2026-03-15T08:23:11Z" — la Z indica UTC. Estándar en la mayoría de APIs y apps.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80160"/>
            <a:ext cx="5029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#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datetime.fromisoformat()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1762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ISO 8601 directamente desde Python 3.7+. Reemplazar Z por +00:00 antes de parsear.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2801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80160"/>
            <a:ext cx="5029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{ 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horaria UTC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1762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forense, SIEMPRE convertir a UTC. La zona horaria local del sospechoso puede ser una pista clave.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26080"/>
            <a:ext cx="5029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timestamp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desde 1970-01-01T00:00:00Z. Muy frecuente en JSON de apps Android e IoT.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5029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&gt;&gt;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3756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UTC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datetime.fromtimestamp(ts, tz=timezone.utc) convierte Unix a datetime con zona UTC.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2926080"/>
            <a:ext cx="50292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&lt; &gt;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forense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822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SIEMPRE el timestamp en UTC en el informe. Nunca en hora local.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Sospechosos en JSON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sospechosas · Acciones críticas · Actividad nocturna · Cruce de fuentes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Detección patrones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1572768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" y="19933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previo + json.load()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eventos en memoria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92808" y="1965960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325880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325880"/>
            <a:ext cx="157276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32588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57400" y="19933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REGLAS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242316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IPs_SOSPECHOSAS, ACCIONES_CRITICAS, HORAS_NOCTURNAS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1965960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325880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1325880"/>
            <a:ext cx="157276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32588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21608" y="19933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242316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evento in datos: evaluar cada campo contra las reglas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30368" y="1965960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1325880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21808" y="1325880"/>
            <a:ext cx="157276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32588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85816" y="19933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13248" y="242316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 / MEDIA / BAJA según combinación de reglas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94576" y="1965960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325880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1325880"/>
            <a:ext cx="157276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132588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59168" y="19933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242316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con hallazgos y prioridad para el informe pericial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496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Validar las reglas con eventos conocidos antes de aplicarlas a evidencias reales. Un falso negativo puede ocultar actividad maliciosa.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como Artefacto Forense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base de datos más desplegado del mundo · Sin servidor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SQLite forense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omnipresente en evidencias digitales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4206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39319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SQLite: toda la BD en un único fichero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Extensiones: .db  .sqlite  .sqlite3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servidor: funciona sin proceso externo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Portátil: se copia como cualquier fichero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NUNCA abrir en modo escritura — contamina la evidencia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Siempre usar: mode=ro (read-only)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sqlite3.connect(f"file:{ruta}?mode=ro", uri=True)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Abre la BD sin modificar ni un solo byte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Seguro para análisis forense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611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Abrir siempre en modo lectura (mode=ro)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Calcular SHA-256 del fichero .db antes de conectar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Registrar nombre, tamaño y hash en el informe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0690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258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encontramos SQLite en un sistema?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40690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19072"/>
            <a:ext cx="3794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Navegadores web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Chrome: History, Cookies, Login Data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 móviles (Android/iOS)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WhatsApp, Signal, Contacts, Calendar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Aplicaciones de escritorio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Skype, Slack, Firefox, Thunderbird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Sistemas operativos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iOS (iMessage), Android (MMSSMS.db)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 borra los datos inmediatamente: los registros "borrados" permanecen hasta que la página es sobreescrita. Recuperables con SQL estándar.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43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recomendada: DB Browser for SQLite — exploración visual gratuita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JSON + SQLite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json_analyzer.py + sqlite_forense.py  ·  50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ha reportado una fuga de datos. Tienes dos evidencias: un registro JSON de actividad y una BD SQLite de mensajes internos. Tu misión: identificar al responsable y los archivos exfiltrados.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42976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ejercicio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1762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Parsear registro_actividad.json y detectar IPs sospechosas y acciones nocturnas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mensajes.db y recuperar mensajes borrados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eventos JSON con mensajes SQLite por timestamp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hallazgos a hallazgos.csv con prioridad ALTA/MEDIA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850392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10712"/>
            <a:ext cx="8229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sqlite3, hashlib, csv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from datetime import datetime, timezone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Paso 1: hash de ambas evidencias antes de abrir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Paso 2: cargar JSON → detectar patrones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Paso 3: conectar SQLite → recuperar borrados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Paso 4: cruzar por 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Paso 5: exportar hallazgos.csv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Ampliación: añadir geolocalización de IPs con ipwhois · cruzar contra listas Tor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Regresamos a las 11:15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completado: JSON forense · Detección de patrones · SQLite · Ejercicio integrador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· Timestamps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Triage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minutos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4297680"/>
            <a:ext cx="11887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binario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429768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FILETIME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429768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Timestomping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4297680"/>
            <a:ext cx="12801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psutil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Binarios con struct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estructuras binarias fijas · Prefetch · Cabeceras de fichero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struct binario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19659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792224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1214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Intel/Windows usan little-endian (&lt;). Los bytes menos significativos van primero.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325880"/>
            <a:ext cx="19659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32888" y="1792224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Big-endian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2888" y="21214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formatos clásicos usan big-endian (&gt;). El byte más significativo va primero.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81728" y="1792224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21214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H=uint16, I=uint32, Q=uint64, s=bytes. Combinar con endianness: &lt;I, &gt;H, &lt;Q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325880"/>
            <a:ext cx="1965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1792224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fijo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0568" y="21214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está en una posición fija del binario. La especificación del formato indica el offset.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binarios forenses más comunes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154680"/>
            <a:ext cx="13716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71800" y="3154680"/>
            <a:ext cx="256032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Endianness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3154680"/>
            <a:ext cx="31089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forense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429000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Prefetch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91640" y="342900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71800" y="3429000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3429000"/>
            <a:ext cx="3108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429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ejecuciones de programas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776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MFT NTFS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91640" y="377647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3776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$MFT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71800" y="37764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3776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32120" y="3776472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3776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ficheros y timestamps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123944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123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LNK File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91640" y="412394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37360" y="4123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.lnk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71800" y="4123944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41239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32120" y="4123944"/>
            <a:ext cx="3108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4123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a ficheros y rutas recientes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forense: siempre conocer la especificación del formato antes de desempaquetar. Una lectura incorrecta produce datos falsos.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Prefetch con struct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nombre del ejecutable y timestamp de última ejecución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prefetch.py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fichero Prefetch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2062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9319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struct, hashlib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h = hashlib.new(algoritmo)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with open(ruta, "rb")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# Leer en bloques (archivos grandes)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for bloque in iter(lambda: f.read(65536), b""):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h.update(bloque)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h.hexdigest()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SHA-256 del fichero Prefetch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sha256 = hashlib.sha256(datos).hexdigest()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Timestamp offset 120: FILETIME Windows (8 bytes, little-endian)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25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ft = struct.unpack("&lt;Q", datos[120:128])[0]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18488"/>
            <a:ext cx="40690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91640"/>
            <a:ext cx="37947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EPOCH = datetime(1601,1,1, tzinfo=timezone.utc)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dt = EPOCH + timedelta(microseconds=ft // 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salt = os.urandom(16)  # 16 bytes aleatorios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hash_obj = hashlib.pbkdf2_hmac(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"sha256",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password.encode("utf-8"),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salt, 100000)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salt + hash_obj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analizar_prefetch('CHROME.EXE-3D3F0B10.pf')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salt = hash_almacenado[:16]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hash_almacenado == hash_con_salt_2(password, salt)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referencia: WinPrefetchView (NirSoft) para contraste forense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178808"/>
            <a:ext cx="85039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Verificar con WinPrefetchView o PECmd (Eric Zimmerman) para validar los timestamps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  <a:t>
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Timestomping — Técnica Anti-forense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deliberada de timestamps para ocultar actividad maliciosa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Timestomping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85039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timestomping es la modificación intencionada de los timestamps MACB (Modified, Accessed, Changed, Born) de un fichero para ocultar cuándo fue creado, accedido o modificado. Técnica anti-forense clásica.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6596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mtime &lt; ctime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87168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Backdating imposible: la fecha de modificación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ser anterior a la de creación del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en condiciones normales.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965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96596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Segundos exactos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487168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timestomping redondean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exactos (:00). Los timestamps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legítimos tienen microsegundos aleatorios.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965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96596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Fecha fuera de rango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487168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anteriores a la instalación del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 posteriores a la captura forense son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físicamente imposibles.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965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96596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Inconsistencia MACB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timestamps deben ser coherentes entre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Divergencias grandes entre M, A, C y 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indican manipulación deliberada.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793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referencia: log2timeline/Plaso para correlacionar timestamps de múltiples fuentes y detectar anomalías temporales.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 timestamp manipulado raramente es consistente con TODOS los artefactos del sistema (prefetch, logs, MFT).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— Procesos y Conexiones en Vivo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estado volátil: procesos, red, usuarios activos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psutil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3035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502920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psutil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datetime, timezone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Listar procesos activos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proc in psutil.process_iter(["pid","name","username","create_time"]):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info = proc.info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ts = datetime.fromtimestamp(info["create_time"], tz=timezone.utc).strftime("%H:%M:%S")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print(f"{info['pid']:&lt;7} {info['name']:&lt;25} {ts}")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except (psutil.NoSuchProcess, psutil.AccessDenied):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continue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Conexiones de red activas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conn in psutil.net_connections(kind="inet"):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conn.status == "ESTABLISHED":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raddr = f"{conn.raddr.ip}:{conn.raddr.port}" if conn.raddr else "-"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print(f"PID {conn.pid}  →  {raddr}  [{conn.status}]")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Usuarios activos en el sistema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 in psutil.users():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print(f"{u.name}  |  login: {datetime.fromtimestamp(u.started, tz=timezone.utc)}")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301752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forense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1618488"/>
            <a:ext cx="3017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691640"/>
            <a:ext cx="27432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forense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Captura de procesos, conexiones y usuarios en 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vivo antes de que el sospechoso pueda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destruir evidencias o reiniciar el equipo.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3337560"/>
            <a:ext cx="30175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psutil: pip install psutil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3703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prueba con GPS:
</a:t>
            </a: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github.com/ianare/exif-samples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Verificar resultados con ExifTool (Phil Harvey) — herramienta de referencia para contraste forense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triage.py — Script Completo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· Conexiones · Usuarios · Snapshot firmado con SHA-256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triage.py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120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psutil, json, hashlib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73352"/>
            <a:ext cx="4846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datetime, timezone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capturar_procesos():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resultado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p in psutil.process_iter(["pid","name","username","create_time"]):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try: resultado.append(p.info)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512064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except (psutil.NoSuchProcess, psutil.AccessDenied): pass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51206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64992"/>
            <a:ext cx="4846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resultado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 = {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"conexiones": [c._asdict() for c in psutil.net_connections(kind="inet")]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"usuarios": [u.name for u in psutil.users()]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contenido = json.dumps(snapshot, ensure_ascii=False)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sha256 = hashlib.sha256(contenido.encode()).hexdigest()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snapshot['sha256'] = sha256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print(f'[+] Triage OK. SHA-256: {sha256[:16]}...')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1325880"/>
            <a:ext cx="3200400" cy="137160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389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guardado: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triage_20260315_021455.json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Proceso firmado con SHA-256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Inmutable para el informe pericial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2834640"/>
            <a:ext cx="3200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2834640"/>
            <a:ext cx="50292" cy="1965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880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dependencia: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320040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psutil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JORNADA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has aprendido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25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38988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informática forense: fases, cadena de custodia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0312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10312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 nombrado forense en 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036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80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" y="294436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desarrollo forense (Identificar → Planear → Codificar → Validar)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65760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65760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372160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forense con os.walk, os.stat y exportación CSV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2588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25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38928" y="138988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MD5 y SHA-256 con hashlib para integridad de evidencias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0312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10312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38928" y="216712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salt para análisis de contraseñas almacenadas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88036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880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38928" y="294436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metadatos EXIF con Pillow, incluyendo GPS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65760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65760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38928" y="372160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y análisis de logs con regex y Counter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Jornada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contenidos de la formación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50292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y serialización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serializadas — Capítulo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502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 Python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forenses — Capítulo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50292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048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binarios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UserAssist, struct, extracción binaria — Capítulo 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17520"/>
            <a:ext cx="5029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976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forenses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931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temporal de evidencias — Capítulo 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17520"/>
            <a:ext cx="50292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1012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con psutil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931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rápido de sistemas en vivo — Capítulo 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Python for Forensics" Miller &amp; Bryce (Packt 2019)  ·  tutorialspoint.com/python_forensics  ·  github.com/PacktPublishing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datetimelationships" xmlns:p="http://schemas.openxmlformats.org/presentationml/2006/main">
  <p:cSld name="Slide 2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— Scripts de la Jornada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 instalación para los ejercicios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pathlib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18488" y="143560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1435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21992" y="132588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de artefactos JSON de actividad y geolocalización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2588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Instalar: pip install 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43560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435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02352" y="132588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forense de bases de datos SQLite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32588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Resto stdlib (sin instalación):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79208" y="143560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9208" y="1435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982712" y="132588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Desempaquetado de estructuras binarias (Prefetch, cabeceras)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190195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190195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019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18488" y="201168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8488" y="20116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21992" y="190195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SHA-256 para cadena de custodia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0" y="190195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190195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19019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98848" y="201168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20116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02352" y="190195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timestamps: Unix, FILETIME, HFS+, WebKit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0760" y="190195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90195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9019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psutil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79208" y="201168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20116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psutil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82712" y="190195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procesos, conexiones y memoria en vivo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247802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247802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24780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18488" y="258775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18488" y="25877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221992" y="247802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rutas seguro y multiplataforma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0" y="247802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247802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24780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98848" y="258775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8848" y="25877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Verificar: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02352" y="247802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-c "import psutil; print(psutil.__version__)"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80760" y="247802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247802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24780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79208" y="258775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79208" y="25877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982712" y="247802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-c "import json, sqlite3, struct, hashlib; print('OK')"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0040" y="3054096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3054096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30540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psutil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618488" y="3163824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18488" y="3163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221992" y="305409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0" y="3054096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3054096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30540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498848" y="3163824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98848" y="3163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102352" y="305409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080760" y="3054096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0760" y="3054096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30540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79208" y="3163824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79208" y="3163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982712" y="305409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JSON en el Ecosistema Digital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Apps móviles · Logs · Cloud · Navegadores · IoT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1.1 JSON forense</a:t>
            </a:r>
            <a:endParaRPr lang="es-ES" dirty="0"/>
          </a:p>
        </p:txBody>
      </p:sp>
      <p:sp>
        <p:nvSpPr>
          <p:cNvPr id="7" name="Card0"/>
          <p:cNvSpPr/>
          <p:nvPr/>
        </p:nvSpPr>
        <p:spPr>
          <a:xfrm>
            <a:off x="320040" y="1390000"/>
            <a:ext cx="162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trip0"/>
          <p:cNvSpPr/>
          <p:nvPr/>
        </p:nvSpPr>
        <p:spPr>
          <a:xfrm>
            <a:off x="320040" y="1390000"/>
            <a:ext cx="1620000" cy="1828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</p:sp>
      <p:sp>
        <p:nvSpPr>
          <p:cNvPr id="9" name="Box9"/>
          <p:cNvSpPr/>
          <p:nvPr/>
        </p:nvSpPr>
        <p:spPr>
          <a:xfrm>
            <a:off x="320040" y="1618600"/>
            <a:ext cx="1620000" cy="64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0F172A"/>
                </a:solidFill>
                <a:latin typeface="Calibri" pitchFamily="34" charset="0"/>
              </a:rPr>
              <a:t>01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320040" y="2290000"/>
            <a:ext cx="1620000" cy="24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APPS MÓVILES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475569"/>
                </a:solidFill>
                <a:latin typeface="Calibri" pitchFamily="34" charset="0"/>
              </a:rPr>
              <a:t>Registros de actividad, ubicación GPS, contactos exportados</a:t>
            </a:r>
            <a:endParaRPr lang="es-ES" dirty="0"/>
          </a:p>
        </p:txBody>
      </p:sp>
      <p:sp>
        <p:nvSpPr>
          <p:cNvPr id="11" name="Card1"/>
          <p:cNvSpPr/>
          <p:nvPr/>
        </p:nvSpPr>
        <p:spPr>
          <a:xfrm>
            <a:off x="2031480" y="1390000"/>
            <a:ext cx="162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trip1"/>
          <p:cNvSpPr/>
          <p:nvPr/>
        </p:nvSpPr>
        <p:spPr>
          <a:xfrm>
            <a:off x="2031480" y="1390000"/>
            <a:ext cx="1620000" cy="182880"/>
          </a:xfrm>
          <a:prstGeom prst="rect">
            <a:avLst/>
          </a:prstGeom>
          <a:solidFill>
            <a:srgbClr val="0891B5"/>
          </a:solidFill>
          <a:ln w="0">
            <a:noFill/>
          </a:ln>
        </p:spPr>
      </p:sp>
      <p:sp>
        <p:nvSpPr>
          <p:cNvPr id="13" name="Box13"/>
          <p:cNvSpPr/>
          <p:nvPr/>
        </p:nvSpPr>
        <p:spPr>
          <a:xfrm>
            <a:off x="2031480" y="1618600"/>
            <a:ext cx="1620000" cy="64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0F172A"/>
                </a:solidFill>
                <a:latin typeface="Calibri" pitchFamily="34" charset="0"/>
              </a:rPr>
              <a:t>02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2031480" y="2290000"/>
            <a:ext cx="1620000" cy="24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LOGS SISTEMA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475569"/>
                </a:solidFill>
                <a:latin typeface="Calibri" pitchFamily="34" charset="0"/>
              </a:rPr>
              <a:t>Auth logs, event logs, firewall rules en formato JSON</a:t>
            </a:r>
            <a:endParaRPr lang="es-ES" dirty="0"/>
          </a:p>
        </p:txBody>
      </p:sp>
      <p:sp>
        <p:nvSpPr>
          <p:cNvPr id="15" name="Card2"/>
          <p:cNvSpPr/>
          <p:nvPr/>
        </p:nvSpPr>
        <p:spPr>
          <a:xfrm>
            <a:off x="3742920" y="1390000"/>
            <a:ext cx="162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trip2"/>
          <p:cNvSpPr/>
          <p:nvPr/>
        </p:nvSpPr>
        <p:spPr>
          <a:xfrm>
            <a:off x="3742920" y="1390000"/>
            <a:ext cx="1620000" cy="18288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17" name="Box17"/>
          <p:cNvSpPr/>
          <p:nvPr/>
        </p:nvSpPr>
        <p:spPr>
          <a:xfrm>
            <a:off x="3742920" y="1618600"/>
            <a:ext cx="1620000" cy="64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0F172A"/>
                </a:solidFill>
                <a:latin typeface="Calibri" pitchFamily="34" charset="0"/>
              </a:rPr>
              <a:t>03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3742920" y="2290000"/>
            <a:ext cx="1620000" cy="24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CLOUD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475569"/>
                </a:solidFill>
                <a:latin typeface="Calibri" pitchFamily="34" charset="0"/>
              </a:rPr>
              <a:t>Dropbox, OneDrive, Google: activity.json, backup.json</a:t>
            </a:r>
            <a:endParaRPr lang="es-ES" dirty="0"/>
          </a:p>
        </p:txBody>
      </p:sp>
      <p:sp>
        <p:nvSpPr>
          <p:cNvPr id="19" name="Card3"/>
          <p:cNvSpPr/>
          <p:nvPr/>
        </p:nvSpPr>
        <p:spPr>
          <a:xfrm>
            <a:off x="5454360" y="1390000"/>
            <a:ext cx="162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trip3"/>
          <p:cNvSpPr/>
          <p:nvPr/>
        </p:nvSpPr>
        <p:spPr>
          <a:xfrm>
            <a:off x="5454360" y="1390000"/>
            <a:ext cx="1620000" cy="182880"/>
          </a:xfrm>
          <a:prstGeom prst="rect">
            <a:avLst/>
          </a:prstGeom>
          <a:solidFill>
            <a:srgbClr val="155E75"/>
          </a:solidFill>
          <a:ln w="0">
            <a:noFill/>
          </a:ln>
        </p:spPr>
      </p:sp>
      <p:sp>
        <p:nvSpPr>
          <p:cNvPr id="21" name="Box21"/>
          <p:cNvSpPr/>
          <p:nvPr/>
        </p:nvSpPr>
        <p:spPr>
          <a:xfrm>
            <a:off x="5454360" y="1618600"/>
            <a:ext cx="1620000" cy="64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0F172A"/>
                </a:solidFill>
                <a:latin typeface="Calibri" pitchFamily="34" charset="0"/>
              </a:rPr>
              <a:t>04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5454360" y="2290000"/>
            <a:ext cx="1620000" cy="24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NAVEGADORES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475569"/>
                </a:solidFill>
                <a:latin typeface="Calibri" pitchFamily="34" charset="0"/>
              </a:rPr>
              <a:t>Historial Chrome (History), bookmarks, cookies en JSON</a:t>
            </a:r>
            <a:endParaRPr lang="es-ES" dirty="0"/>
          </a:p>
        </p:txBody>
      </p:sp>
      <p:sp>
        <p:nvSpPr>
          <p:cNvPr id="23" name="Card4"/>
          <p:cNvSpPr/>
          <p:nvPr/>
        </p:nvSpPr>
        <p:spPr>
          <a:xfrm>
            <a:off x="7165800" y="1390000"/>
            <a:ext cx="162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trip4"/>
          <p:cNvSpPr/>
          <p:nvPr/>
        </p:nvSpPr>
        <p:spPr>
          <a:xfrm>
            <a:off x="7165800" y="1390000"/>
            <a:ext cx="1620000" cy="182880"/>
          </a:xfrm>
          <a:prstGeom prst="rect">
            <a:avLst/>
          </a:prstGeom>
          <a:solidFill>
            <a:srgbClr val="164E63"/>
          </a:solidFill>
          <a:ln w="0">
            <a:noFill/>
          </a:ln>
        </p:spPr>
      </p:sp>
      <p:sp>
        <p:nvSpPr>
          <p:cNvPr id="25" name="Box25"/>
          <p:cNvSpPr/>
          <p:nvPr/>
        </p:nvSpPr>
        <p:spPr>
          <a:xfrm>
            <a:off x="7165800" y="1618600"/>
            <a:ext cx="1620000" cy="64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0F172A"/>
                </a:solidFill>
                <a:latin typeface="Calibri" pitchFamily="34" charset="0"/>
              </a:rPr>
              <a:t>05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7165800" y="2290000"/>
            <a:ext cx="1620000" cy="24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IoT / SMART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475569"/>
                </a:solidFill>
                <a:latin typeface="Calibri" pitchFamily="34" charset="0"/>
              </a:rPr>
              <a:t>Termostatos, cámaras, wearables: logs en JSON/MQTT</a:t>
            </a:r>
            <a:endParaRPr lang="es-ES" dirty="0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json_read.py — Lectura Forense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Patrón hash previo → cargar → validar estructura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1.2 json_read.py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320040" y="1390000"/>
            <a:ext cx="3900000" cy="128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import json, hashlib</a:t>
            </a:r>
            <a:endParaRPr lang="es-ES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</a:rPr>
              <a:t>ruta = Path("registro_actividad.json")</a:t>
            </a:r>
            <a:endParaRPr lang="es-ES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</a:rPr>
              <a:t>sha256 = hashlib.sha256(ruta.read_bytes()).hexdigest()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310040" y="1890000"/>
            <a:ext cx="520000" cy="28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06B6D4"/>
                </a:solidFill>
                <a:latin typeface="Calibri" pitchFamily="34" charset="0"/>
              </a:rPr>
              <a:t>→→→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924040" y="1390000"/>
            <a:ext cx="3900000" cy="128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with open(ruta, encoding="utf-8") as f:</a:t>
            </a:r>
            <a:endParaRPr lang="es-ES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</a:rPr>
              <a:t xml:space="preserve">    datos = json.load(f)</a:t>
            </a:r>
            <a:endParaRPr lang="es-ES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</a:rPr>
              <a:t>print(f"Registros: {len(datos)}  |  SHA-256: {sha256[:16]}...")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320040" y="2780000"/>
            <a:ext cx="8503960" cy="55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166534"/>
                </a:solidFill>
                <a:latin typeface="Calibri" pitchFamily="34" charset="0"/>
              </a:rPr>
              <a:t>✓  json.load() convierte el JSON a dict/list Python nativo en memoria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20040" y="3430000"/>
            <a:ext cx="8503960" cy="55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991B1B"/>
                </a:solidFill>
                <a:latin typeface="Calibri" pitchFamily="34" charset="0"/>
              </a:rPr>
              <a:t>✗  JSONDecodeError → fichero corrupto o manipulado. Registrar en el informe.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320040" y="4090000"/>
            <a:ext cx="8503960" cy="43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📌  Primer paso de cualquier script forense JSON: hash → carga → validación de estructura</a:t>
            </a:r>
            <a:endParaRPr lang="es-ES" dirty="0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Timestamps en JSON — Código de Conversión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datetime.fromisoformat() · timezone · strftime para informes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1.3 Timestamps código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320040" y="1390000"/>
            <a:ext cx="198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Acción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400000" y="1390000"/>
            <a:ext cx="198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Código Python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480000" y="1390000"/>
            <a:ext cx="302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Resultado / Uso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7600000" y="1390000"/>
            <a:ext cx="120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Estado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20040" y="178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Parsear ISO 8601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2400000" y="178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4480000" y="1780000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datetime.fromisoformat(ts.replace("Z", "+00:00"))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7600000" y="1780000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320040" y="215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Hora local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400000" y="215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4480000" y="2150000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ts.astimezone().strftime("%H:%M:%S %Z")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7600000" y="2150000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320040" y="252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E7490"/>
                </a:solidFill>
                <a:latin typeface="Courier New" pitchFamily="34" charset="0"/>
              </a:rPr>
              <a:t>Hora UTC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2400000" y="252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4480000" y="2520000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ts.strftime("%Y-%m-%d %H:%M:%S UTC")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7600000" y="2520000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320040" y="289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Unix → UTC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2400000" y="289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25" name="Box25"/>
          <p:cNvSpPr/>
          <p:nvPr/>
        </p:nvSpPr>
        <p:spPr>
          <a:xfrm>
            <a:off x="4480000" y="2890000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datetime.fromtimestamp(unix_ts, tz=timezone.utc)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7600000" y="2890000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27" name="Box27"/>
          <p:cNvSpPr/>
          <p:nvPr/>
        </p:nvSpPr>
        <p:spPr>
          <a:xfrm>
            <a:off x="320040" y="326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Comparar timestamps</a:t>
            </a:r>
            <a:endParaRPr lang="es-ES" dirty="0"/>
          </a:p>
        </p:txBody>
      </p:sp>
      <p:sp>
        <p:nvSpPr>
          <p:cNvPr id="28" name="Box28"/>
          <p:cNvSpPr/>
          <p:nvPr/>
        </p:nvSpPr>
        <p:spPr>
          <a:xfrm>
            <a:off x="2400000" y="326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29" name="Box29"/>
          <p:cNvSpPr/>
          <p:nvPr/>
        </p:nvSpPr>
        <p:spPr>
          <a:xfrm>
            <a:off x="4480000" y="3260000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abs(ts1 - ts2) &lt; timedelta(seconds=2)</a:t>
            </a:r>
            <a:endParaRPr lang="es-ES" dirty="0"/>
          </a:p>
        </p:txBody>
      </p:sp>
      <p:sp>
        <p:nvSpPr>
          <p:cNvPr id="30" name="Box30"/>
          <p:cNvSpPr/>
          <p:nvPr/>
        </p:nvSpPr>
        <p:spPr>
          <a:xfrm>
            <a:off x="7600000" y="3260000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</p:txBody>
      </p:sp>
      <p:sp>
        <p:nvSpPr>
          <p:cNvPr id="31" name="Box31"/>
          <p:cNvSpPr/>
          <p:nvPr/>
        </p:nvSpPr>
        <p:spPr>
          <a:xfrm>
            <a:off x="320040" y="363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E7490"/>
                </a:solidFill>
                <a:latin typeface="Courier New" pitchFamily="34" charset="0"/>
              </a:rPr>
              <a:t>Exportar CSV</a:t>
            </a:r>
            <a:endParaRPr lang="es-ES" dirty="0"/>
          </a:p>
        </p:txBody>
      </p:sp>
      <p:sp>
        <p:nvSpPr>
          <p:cNvPr id="32" name="Box32"/>
          <p:cNvSpPr/>
          <p:nvPr/>
        </p:nvSpPr>
        <p:spPr>
          <a:xfrm>
            <a:off x="2400000" y="363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33" name="Box33"/>
          <p:cNvSpPr/>
          <p:nvPr/>
        </p:nvSpPr>
        <p:spPr>
          <a:xfrm>
            <a:off x="4480000" y="3630000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ts.isoformat() en cada fila del CSV</a:t>
            </a:r>
            <a:endParaRPr lang="es-ES" dirty="0"/>
          </a:p>
        </p:txBody>
      </p:sp>
      <p:sp>
        <p:nvSpPr>
          <p:cNvPr id="34" name="Box34"/>
          <p:cNvSpPr/>
          <p:nvPr/>
        </p:nvSpPr>
        <p:spPr>
          <a:xfrm>
            <a:off x="7600000" y="3630000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</p:txBody>
      </p:sp>
      <p:sp>
        <p:nvSpPr>
          <p:cNvPr id="35" name="Box35"/>
          <p:cNvSpPr/>
          <p:nvPr/>
        </p:nvSpPr>
        <p:spPr>
          <a:xfrm>
            <a:off x="320040" y="400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mutagen</a:t>
            </a:r>
            <a:endParaRPr lang="es-ES" dirty="0"/>
          </a:p>
        </p:txBody>
      </p:sp>
      <p:sp>
        <p:nvSpPr>
          <p:cNvPr id="36" name="Box36"/>
          <p:cNvSpPr/>
          <p:nvPr/>
        </p:nvSpPr>
        <p:spPr>
          <a:xfrm>
            <a:off x="2400000" y="4000000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37" name="Box37"/>
          <p:cNvSpPr/>
          <p:nvPr/>
        </p:nvSpPr>
        <p:spPr>
          <a:xfrm>
            <a:off x="4480000" y="4000000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Metadatos ID3 (audio)</a:t>
            </a:r>
            <a:endParaRPr lang="es-ES" dirty="0"/>
          </a:p>
        </p:txBody>
      </p:sp>
      <p:sp>
        <p:nvSpPr>
          <p:cNvPr id="38" name="Box38"/>
          <p:cNvSpPr/>
          <p:nvPr/>
        </p:nvSpPr>
        <p:spPr>
          <a:xfrm>
            <a:off x="7600000" y="4000000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</p:txBody>
      </p:sp>
      <p:sp>
        <p:nvSpPr>
          <p:cNvPr id="39" name="Box39"/>
          <p:cNvSpPr/>
          <p:nvPr/>
        </p:nvSpPr>
        <p:spPr>
          <a:xfrm>
            <a:off x="320040" y="437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xlsxwriter</a:t>
            </a:r>
            <a:endParaRPr lang="es-ES" dirty="0"/>
          </a:p>
        </p:txBody>
      </p:sp>
      <p:sp>
        <p:nvSpPr>
          <p:cNvPr id="40" name="Box40"/>
          <p:cNvSpPr/>
          <p:nvPr/>
        </p:nvSpPr>
        <p:spPr>
          <a:xfrm>
            <a:off x="2400000" y="4370000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41" name="Box41"/>
          <p:cNvSpPr/>
          <p:nvPr/>
        </p:nvSpPr>
        <p:spPr>
          <a:xfrm>
            <a:off x="4480000" y="4370000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Informes Excel con gráficas</a:t>
            </a:r>
            <a:endParaRPr lang="es-ES" dirty="0"/>
          </a:p>
        </p:txBody>
      </p:sp>
      <p:sp>
        <p:nvSpPr>
          <p:cNvPr id="42" name="Box42"/>
          <p:cNvSpPr/>
          <p:nvPr/>
        </p:nvSpPr>
        <p:spPr>
          <a:xfrm>
            <a:off x="7600000" y="4370000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Detección de Patrones — Código Python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IPs sospechosas · acciones críticas · actividad nocturna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1.4 Detección código</a:t>
            </a:r>
            <a:endParaRPr lang="es-ES" dirty="0"/>
          </a:p>
        </p:txBody>
      </p:sp>
      <p:sp>
        <p:nvSpPr>
          <p:cNvPr id="7" name="StepCard0"/>
          <p:cNvSpPr/>
          <p:nvPr/>
        </p:nvSpPr>
        <p:spPr>
          <a:xfrm>
            <a:off x="320040" y="1420000"/>
            <a:ext cx="1600000" cy="32000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</p:sp>
      <p:sp>
        <p:nvSpPr>
          <p:cNvPr id="8" name="Box8"/>
          <p:cNvSpPr/>
          <p:nvPr/>
        </p:nvSpPr>
        <p:spPr>
          <a:xfrm>
            <a:off x="320040" y="1600000"/>
            <a:ext cx="1600000" cy="284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01
IDENTIFICAR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E0F2FE"/>
                </a:solidFill>
                <a:latin typeface="Calibri" pitchFamily="34" charset="0"/>
              </a:rPr>
              <a:t>IPS_SOSPECHOSAS = {"185.220.101.45", "51.15.0.0"}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1920040" y="2870000"/>
            <a:ext cx="91440" cy="3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FFFFFF"/>
                </a:solidFill>
                <a:latin typeface="Calibri" pitchFamily="34" charset="0"/>
              </a:rPr>
              <a:t>▶</a:t>
            </a:r>
            <a:endParaRPr lang="es-ES" dirty="0"/>
          </a:p>
        </p:txBody>
      </p:sp>
      <p:sp>
        <p:nvSpPr>
          <p:cNvPr id="10" name="StepCard1"/>
          <p:cNvSpPr/>
          <p:nvPr/>
        </p:nvSpPr>
        <p:spPr>
          <a:xfrm>
            <a:off x="2011480" y="1420000"/>
            <a:ext cx="1600000" cy="3200000"/>
          </a:xfrm>
          <a:prstGeom prst="rect">
            <a:avLst/>
          </a:prstGeom>
          <a:solidFill>
            <a:srgbClr val="0891B5"/>
          </a:solidFill>
          <a:ln w="0">
            <a:noFill/>
          </a:ln>
        </p:spPr>
      </p:sp>
      <p:sp>
        <p:nvSpPr>
          <p:cNvPr id="11" name="Box11"/>
          <p:cNvSpPr/>
          <p:nvPr/>
        </p:nvSpPr>
        <p:spPr>
          <a:xfrm>
            <a:off x="2011480" y="1600000"/>
            <a:ext cx="1600000" cy="284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02
PLANEAR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E0F2FE"/>
                </a:solidFill>
                <a:latin typeface="Calibri" pitchFamily="34" charset="0"/>
              </a:rPr>
              <a:t>os.walk() + os.stat()
csv.DictWriter
Argumento: directorio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3611480" y="2870000"/>
            <a:ext cx="91440" cy="3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FFFFFF"/>
                </a:solidFill>
                <a:latin typeface="Calibri" pitchFamily="34" charset="0"/>
              </a:rPr>
              <a:t>▶</a:t>
            </a:r>
            <a:endParaRPr lang="es-ES" dirty="0"/>
          </a:p>
        </p:txBody>
      </p:sp>
      <p:sp>
        <p:nvSpPr>
          <p:cNvPr id="13" name="StepCard2"/>
          <p:cNvSpPr/>
          <p:nvPr/>
        </p:nvSpPr>
        <p:spPr>
          <a:xfrm>
            <a:off x="3702920" y="1420000"/>
            <a:ext cx="1600000" cy="32000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14" name="Box14"/>
          <p:cNvSpPr/>
          <p:nvPr/>
        </p:nvSpPr>
        <p:spPr>
          <a:xfrm>
            <a:off x="3702920" y="1600000"/>
            <a:ext cx="1600000" cy="284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03
PROGRAMAR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E0F2FE"/>
                </a:solidFill>
                <a:latin typeface="Calibri" pitchFamily="34" charset="0"/>
              </a:rPr>
              <a:t>hallazgos = []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5302920" y="2870000"/>
            <a:ext cx="91440" cy="3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FFFFFF"/>
                </a:solidFill>
                <a:latin typeface="Calibri" pitchFamily="34" charset="0"/>
              </a:rPr>
              <a:t>▶</a:t>
            </a:r>
            <a:endParaRPr lang="es-ES" dirty="0"/>
          </a:p>
        </p:txBody>
      </p:sp>
      <p:sp>
        <p:nvSpPr>
          <p:cNvPr id="16" name="StepCard3"/>
          <p:cNvSpPr/>
          <p:nvPr/>
        </p:nvSpPr>
        <p:spPr>
          <a:xfrm>
            <a:off x="5394360" y="1420000"/>
            <a:ext cx="1600000" cy="3200000"/>
          </a:xfrm>
          <a:prstGeom prst="rect">
            <a:avLst/>
          </a:prstGeom>
          <a:solidFill>
            <a:srgbClr val="155E75"/>
          </a:solidFill>
          <a:ln w="0">
            <a:noFill/>
          </a:ln>
        </p:spPr>
      </p:sp>
      <p:sp>
        <p:nvSpPr>
          <p:cNvPr id="17" name="Box17"/>
          <p:cNvSpPr/>
          <p:nvPr/>
        </p:nvSpPr>
        <p:spPr>
          <a:xfrm>
            <a:off x="5394360" y="1600000"/>
            <a:ext cx="1600000" cy="284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04
VALIDAR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E0F2FE"/>
                </a:solidFill>
                <a:latin typeface="Calibri" pitchFamily="34" charset="0"/>
              </a:rPr>
              <a:t>Ejecutar con evidencias_usb/ conocidas
Comprobar CSV generado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6994360" y="2870000"/>
            <a:ext cx="91440" cy="3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FFFFFF"/>
                </a:solidFill>
                <a:latin typeface="Calibri" pitchFamily="34" charset="0"/>
              </a:rPr>
              <a:t>▶</a:t>
            </a:r>
            <a:endParaRPr lang="es-ES" dirty="0"/>
          </a:p>
        </p:txBody>
      </p:sp>
      <p:sp>
        <p:nvSpPr>
          <p:cNvPr id="19" name="StepCard4"/>
          <p:cNvSpPr/>
          <p:nvPr/>
        </p:nvSpPr>
        <p:spPr>
          <a:xfrm>
            <a:off x="7085800" y="1420000"/>
            <a:ext cx="1600000" cy="3200000"/>
          </a:xfrm>
          <a:prstGeom prst="rect">
            <a:avLst/>
          </a:prstGeom>
          <a:solidFill>
            <a:srgbClr val="164E63"/>
          </a:solidFill>
          <a:ln w="0">
            <a:noFill/>
          </a:ln>
        </p:spPr>
      </p:sp>
      <p:sp>
        <p:nvSpPr>
          <p:cNvPr id="20" name="Box20"/>
          <p:cNvSpPr/>
          <p:nvPr/>
        </p:nvSpPr>
        <p:spPr>
          <a:xfrm>
            <a:off x="7085800" y="1600000"/>
            <a:ext cx="1600000" cy="284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05
BUGS</a:t>
            </a:r>
            <a:endParaRPr lang="es-ES" dirty="0"/>
          </a:p>
          <a:p>
            <a:pPr algn="ctr" indent="0" marL="0">
              <a:buNone/>
            </a:pPr>
            <a:r>
              <a:rPr lang="es-ES" sz="900" dirty="0">
                <a:solidFill>
                  <a:srgbClr val="E0F2FE"/>
                </a:solidFill>
                <a:latin typeface="Calibri" pitchFamily="34" charset="0"/>
              </a:rPr>
              <a:t>¿Archivos sin permiso?
¿Extensiones vacías?
Iterar y corregir</a:t>
            </a:r>
            <a:endParaRPr lang="es-ES" dirty="0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Conexión Forense a SQLite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Hash de integridad · Abrir en modo lectura · Extraer esquema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2.2 sqlite3 módulo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5200000" cy="3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sqlite3, hashlib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from pathlib import Path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ruta = "evidencia_demo.db"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1. Hash antes de conectar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sha256 = hashlib.sha256(Path(ruta).read_bytes()).hexdigest()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print(f"SHA-256: {sha256}")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2. Abrir en modo lectura (no modifica la BD)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con = sqlite3.connect(f"file:{ruta}?mode=ro", uri=True)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cur = con.cursor()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3. Extraer esquema completo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cur.execute("SELECT name FROM sqlite_master WHERE type='table'")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5660040" y="1420000"/>
            <a:ext cx="316396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tablas = cur.fetchall()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for (nombre,) in tablas: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 xml:space="preserve">    cur.execute(f"SELECT COUNT(*) FROM \"{nombre}\"")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 xml:space="preserve">    total = cur.fetchone()[0]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5660040" y="2560000"/>
            <a:ext cx="3163960" cy="105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 xml:space="preserve">    print(f"Tabla: {nombre}  ({total} registros)")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Extrae el esquema completo de la BD para el informe pericial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5660040" y="3700000"/>
            <a:ext cx="3163960" cy="86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Modo lectura (mode=ro)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No modifica ni un byte de la evidencia original. Seguro para análisis forense.</a:t>
            </a:r>
            <a:endParaRPr lang="es-ES" dirty="0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Recuperación de Registros Borrados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SQLite conserva los datos borrados hasta que la página es sobreescrita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2.4 Registros borrados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Los registros con borrado lógico (flag deleted=1) siguen en la BD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y son recuperables con una simple consulta SQL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cur.execute("""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SELECT id, remitente, destinatario, cuerpo,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datetime(timestamp, 'unixepoch') AS fecha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FROM mensajes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WHERE borrado = 1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""")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registros_borrados = cur.fetchall()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print(f"Mensajes borrados recuperados: {len(registros_borrados)}")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r in registros_borrados: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print(f"  [{r[4]}] {r[1]} → {r[2]}: {r[3][:50]}")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Cabecera binaria SQLite (struct):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datos = open(ruta, "rb").read(100)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datos[:16] == b"SQLite format 3\x00":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page_size = struct.unpack("&gt;H", datos[16:18])[0]</a:t>
            </a:r>
            <a:endParaRPr lang="es-ES" dirty="0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Dataset de Prueba — JSON + SQLite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Crear los dos ficheros de evidencia para el ejercicio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— Setup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Crear registro_actividad.json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json, sqlite3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actividad = [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{"timestamp": "2026-03-15T02:14:33Z", "ip": "185.220.101.45",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"accion": "DESCARGA", "usuario": "backup_user", "fichero": "nominas.xlsx"},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{"timestamp": "2026-03-15T09:30:22Z", "ip": "10.0.0.5",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"accion": "LOGIN", "usuario": "sergio", "fichero": null}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with open('registro_actividad.json', 'w') as f: json.dump(actividad, f)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# Crear mensajes.db con tabla mensajes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con = sqlite3.connect("mensajes.db")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con.execute("CREATE TABLE mensajes (id INT, remitente TEXT, destinatario TEXT, cuerpo TEXT, timestamp INT, borrado INT)")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con.execute("INSERT INTO mensajes VALUES (1,'backup_user','external@mail.com','Fichero adjunto enviado',1742263200,1)")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con.commit()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print('[+] registro_actividad.json creado')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print('[+] mensajes.db creado')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json_analyzer.py — Detección de Patrones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Cargar JSON con hash previo · iterar eventos · detectar anomalías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— json_analyzer.py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json, hashlib, csv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from pathlib import Path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from datetime import datetime, timezone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IPS_SOSPECHOSAS = {"185.220.101.45", "51.15.0.0"}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ACCIONES_CRITICAS = {"DESCARGA", "SUBIDA", "MODIFICACION"}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def analizar_json(ruta):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sha256 = hashlib.sha256(Path(ruta).read_bytes()).hexdigest()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datos = json.loads(Path(ruta).read_text(encoding="utf-8"))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hallazgos = []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for ev in datos: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ip     = ev.get("ip", "")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accion = ev.get("accion", "")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hora = datetime.fromisoformat(ev["timestamp"].replace("Z","+00:00")).hour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if ip in IPS_SOSPECHOSAS: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        hallazgos.append(("ALTA", "IP_SOSPECHOSA", ev))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if accion in ACCIONES_CRITICAS and 0 &lt;= hora &lt; 6: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hallazgos.append(("MEDIA", "ACCION_NOCTURNA", ev))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hallazgos, sha256</a:t>
            </a:r>
            <a:endParaRPr lang="es-ES" dirty="0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sqlite_forense.py — Extracción y Recuperación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Conexión read-only · esquema · registros borrados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— sqlite_forense.py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sqlite3, hashlib, struct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from pathlib import Path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def analizar_sqlite(ruta):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sha256 = hashlib.sha256(Path(ruta).read_bytes()).hexdigest()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con = sqlite3.connect(f"file:{ruta}?mode=ro", uri=True)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cur = con.cursor()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cur.execute("SELECT name FROM sqlite_master WHERE type='table'")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tablas = [r[0] for r in cur.fetchall()]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cur.execute("SELECT * FROM mensajes WHERE borrado=1")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borrados = cur.fetchall()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sha256, tablas, borrados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sha256, tablas, borrados = analizar_sqlite("mensajes.db")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print(f"SHA-256: {sha256}")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print(f"Tablas: {tablas}")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print(f"Mensajes borrados recuperados: {len(borrados)}")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for r in borrados: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print(f"  {r[1]} → {r[2]}: {r[3]}")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print('[+] Análisis SQLite completado')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print('[+] Resultados en hallazgos_sqlite.csv')</a:t>
            </a:r>
            <a:endParaRPr lang="es-ES" dirty="0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Resultado Esperado — hallazgos.csv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Cada hallazgo con prioridad, tipo y evidencia de origen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— Resultado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20000"/>
            <a:ext cx="17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ourier New" pitchFamily="34" charset="0"/>
              </a:rPr>
              <a:t>prioridad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1958600" y="1420000"/>
            <a:ext cx="95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ourier New" pitchFamily="34" charset="0"/>
              </a:rPr>
              <a:t>tipo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2938600" y="1420000"/>
            <a:ext cx="11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ourier New" pitchFamily="34" charset="0"/>
              </a:rPr>
              <a:t>fuente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4068600" y="1420000"/>
            <a:ext cx="16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ourier New" pitchFamily="34" charset="0"/>
              </a:rPr>
              <a:t>usuario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5698600" y="1420000"/>
            <a:ext cx="30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ourier New" pitchFamily="34" charset="0"/>
              </a:rPr>
              <a:t>detalle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228600" y="179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ALTA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1958600" y="179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IP_SOSPECHOSA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2938600" y="179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JSON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4068600" y="179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backup_user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5698600" y="179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evidencias_usb/documentos/...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228600" y="2160000"/>
            <a:ext cx="17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ALTA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1958600" y="2160000"/>
            <a:ext cx="95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IP_SOSPECHOSA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2938600" y="2160000"/>
            <a:ext cx="11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SQLite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4068600" y="2160000"/>
            <a:ext cx="16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backup_user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5698600" y="2160000"/>
            <a:ext cx="30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evidencias_usb/documentos/...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228600" y="253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MEDIA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1958600" y="253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ACCION_NOCTURNA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2938600" y="253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0</a:t>
            </a:r>
            <a:endParaRPr lang="es-ES" dirty="0"/>
          </a:p>
        </p:txBody>
      </p:sp>
      <p:sp>
        <p:nvSpPr>
          <p:cNvPr id="25" name="Box25"/>
          <p:cNvSpPr/>
          <p:nvPr/>
        </p:nvSpPr>
        <p:spPr>
          <a:xfrm>
            <a:off x="4068600" y="253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backup_user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5698600" y="253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evidencias_usb/imagenes/...</a:t>
            </a:r>
            <a:endParaRPr lang="es-ES" dirty="0"/>
          </a:p>
        </p:txBody>
      </p:sp>
      <p:sp>
        <p:nvSpPr>
          <p:cNvPr id="27" name="Box27"/>
          <p:cNvSpPr/>
          <p:nvPr/>
        </p:nvSpPr>
        <p:spPr>
          <a:xfrm>
            <a:off x="228600" y="2900000"/>
            <a:ext cx="17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28" name="Box28"/>
          <p:cNvSpPr/>
          <p:nvPr/>
        </p:nvSpPr>
        <p:spPr>
          <a:xfrm>
            <a:off x="1958600" y="2900000"/>
            <a:ext cx="95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29" name="Box29"/>
          <p:cNvSpPr/>
          <p:nvPr/>
        </p:nvSpPr>
        <p:spPr>
          <a:xfrm>
            <a:off x="2938600" y="2900000"/>
            <a:ext cx="11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0</a:t>
            </a:r>
            <a:endParaRPr lang="es-ES" dirty="0"/>
          </a:p>
        </p:txBody>
      </p:sp>
      <p:sp>
        <p:nvSpPr>
          <p:cNvPr id="30" name="Box30"/>
          <p:cNvSpPr/>
          <p:nvPr/>
        </p:nvSpPr>
        <p:spPr>
          <a:xfrm>
            <a:off x="4068600" y="2900000"/>
            <a:ext cx="16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1" name="Box31"/>
          <p:cNvSpPr/>
          <p:nvPr/>
        </p:nvSpPr>
        <p:spPr>
          <a:xfrm>
            <a:off x="5698600" y="2900000"/>
            <a:ext cx="30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>evidencias_usb/imagenes/...</a:t>
            </a:r>
            <a:endParaRPr lang="es-ES" dirty="0"/>
          </a:p>
        </p:txBody>
      </p:sp>
      <p:sp>
        <p:nvSpPr>
          <p:cNvPr id="32" name="Box32"/>
          <p:cNvSpPr/>
          <p:nvPr/>
        </p:nvSpPr>
        <p:spPr>
          <a:xfrm>
            <a:off x="228600" y="327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3" name="Box33"/>
          <p:cNvSpPr/>
          <p:nvPr/>
        </p:nvSpPr>
        <p:spPr>
          <a:xfrm>
            <a:off x="1958600" y="327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4" name="Box34"/>
          <p:cNvSpPr/>
          <p:nvPr/>
        </p:nvSpPr>
        <p:spPr>
          <a:xfrm>
            <a:off x="2938600" y="327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5" name="Box35"/>
          <p:cNvSpPr/>
          <p:nvPr/>
        </p:nvSpPr>
        <p:spPr>
          <a:xfrm>
            <a:off x="4068600" y="327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6" name="Box36"/>
          <p:cNvSpPr/>
          <p:nvPr/>
        </p:nvSpPr>
        <p:spPr>
          <a:xfrm>
            <a:off x="5698600" y="327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850" dirty="0">
                <a:solidFill>
                  <a:srgbClr val="1E293B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37" name="Box37"/>
          <p:cNvSpPr/>
          <p:nvPr/>
        </p:nvSpPr>
        <p:spPr>
          <a:xfrm>
            <a:off x="228600" y="4780000"/>
            <a:ext cx="8686800" cy="25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50" i="1" dirty="0">
                <a:solidFill>
                  <a:srgbClr val="64748B"/>
                </a:solidFill>
                <a:latin typeface="Calibri" pitchFamily="34" charset="0"/>
              </a:rPr>
              <a:t>💡  Ampliación: añadir geolocalización de IPs (ipwhois) · cruzar IPs contra lista negra Tor</a:t>
            </a:r>
            <a:endParaRPr lang="es-ES" dirty="0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Cabecera SQLite con struct — Análisis Binario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Los primeros 100 bytes de un .db contienen metadatos forenses valiosos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— Ampliación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320040" y="1420000"/>
            <a:ext cx="41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Leer cabecera sin conectar a la BD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Usar struct para leer metadatos directamente de los bytes: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import struct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624040" y="1420000"/>
            <a:ext cx="42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Verificar firma</a:t>
            </a:r>
            <a:endParaRPr lang="es-ES" dirty="0"/>
          </a:p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datos[:16] == b"SQLite format 3\x00"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Tamaño de página, número de páginas, versión</a:t>
            </a:r>
            <a:endParaRPr lang="es-ES" dirty="0"/>
          </a:p>
        </p:txBody>
      </p:sp>
      <p:sp>
        <p:nvSpPr>
          <p:cNvPr id="9" name="Code"/>
          <p:cNvSpPr/>
          <p:nvPr/>
        </p:nvSpPr>
        <p:spPr>
          <a:xfrm>
            <a:off x="320040" y="2820000"/>
            <a:ext cx="8503960" cy="206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Leer cabecera SQLite sin conectar (100 primeros bytes)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datos = open("mensajes.db", "rb").read(100)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datos[:16] == b"SQLite format 3\x00":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page_size = struct.unpack("&gt;H", datos[16:18])[0]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n_paginas = struct.unpack("&gt;I", datos[28:32])[0]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ver_write = struct.unpack("&gt;I", datos[60:64])[0]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print(f"Firma: VÁLIDA  |  Pág: {page_size}B  |  Págs: {n_paginas}")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print(f"Versión escritura: {ver_write}")</a:t>
            </a:r>
            <a:endParaRPr lang="es-ES" dirty="0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El módulo struct — Tabla de Formatos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Caracteres de formato más usados en análisis forense binario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4.1 struct formatos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24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Símbolo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658600" y="1430000"/>
            <a:ext cx="20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Tipo Python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688600" y="1430000"/>
            <a:ext cx="20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Tamaño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6718600" y="1430000"/>
            <a:ext cx="24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Descripción forense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228600" y="1910000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B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2658600" y="191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int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4688600" y="191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1 byte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6718600" y="1910000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Flags, versiones, contadores pequeños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228600" y="2390000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H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658600" y="2390000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int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4688600" y="2390000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2 bytes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6718600" y="2390000"/>
            <a:ext cx="24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Tamaños de página, identificadores cortos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228600" y="2870000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I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2658600" y="287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991B1B"/>
                </a:solidFill>
                <a:latin typeface="Calibri" pitchFamily="34" charset="0"/>
              </a:rPr>
              <a:t>int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4688600" y="287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991B1B"/>
                </a:solidFill>
                <a:latin typeface="Calibri" pitchFamily="34" charset="0"/>
              </a:rPr>
              <a:t>4 bytes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6718600" y="2870000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166534"/>
                </a:solidFill>
                <a:latin typeface="Calibri" pitchFamily="34" charset="0"/>
              </a:rPr>
              <a:t>Timestamps Unix, offsets de fichero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228600" y="3350000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Q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2658600" y="3350000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int</a:t>
            </a:r>
            <a:endParaRPr lang="es-ES" dirty="0"/>
          </a:p>
        </p:txBody>
      </p:sp>
      <p:sp>
        <p:nvSpPr>
          <p:cNvPr id="25" name="Box25"/>
          <p:cNvSpPr/>
          <p:nvPr/>
        </p:nvSpPr>
        <p:spPr>
          <a:xfrm>
            <a:off x="4688600" y="3350000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8 bytes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6718600" y="3350000"/>
            <a:ext cx="24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166534"/>
                </a:solidFill>
                <a:latin typeface="Calibri" pitchFamily="34" charset="0"/>
              </a:rPr>
              <a:t>FILETIME Windows (100ns desde 1601)</a:t>
            </a:r>
            <a:endParaRPr lang="es-ES" dirty="0"/>
          </a:p>
        </p:txBody>
      </p:sp>
      <p:sp>
        <p:nvSpPr>
          <p:cNvPr id="27" name="Box27"/>
          <p:cNvSpPr/>
          <p:nvPr/>
        </p:nvSpPr>
        <p:spPr>
          <a:xfrm>
            <a:off x="228600" y="3830000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s (Ns)</a:t>
            </a:r>
            <a:endParaRPr lang="es-ES" dirty="0"/>
          </a:p>
        </p:txBody>
      </p:sp>
      <p:sp>
        <p:nvSpPr>
          <p:cNvPr id="28" name="Box28"/>
          <p:cNvSpPr/>
          <p:nvPr/>
        </p:nvSpPr>
        <p:spPr>
          <a:xfrm>
            <a:off x="2658600" y="383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N bytes</a:t>
            </a:r>
            <a:endParaRPr lang="es-ES" dirty="0"/>
          </a:p>
        </p:txBody>
      </p:sp>
      <p:sp>
        <p:nvSpPr>
          <p:cNvPr id="29" name="Box29"/>
          <p:cNvSpPr/>
          <p:nvPr/>
        </p:nvSpPr>
        <p:spPr>
          <a:xfrm>
            <a:off x="4688600" y="3830000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Firmas, strings, campos binarios fijos</a:t>
            </a:r>
            <a:endParaRPr lang="es-ES" dirty="0"/>
          </a:p>
        </p:txBody>
      </p:sp>
      <p:sp>
        <p:nvSpPr>
          <p:cNvPr id="30" name="Box30"/>
          <p:cNvSpPr/>
          <p:nvPr/>
        </p:nvSpPr>
        <p:spPr>
          <a:xfrm>
            <a:off x="6718600" y="3830000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</p:txBody>
      </p:sp>
      <p:sp>
        <p:nvSpPr>
          <p:cNvPr id="31" name="Box31"/>
          <p:cNvSpPr/>
          <p:nvPr/>
        </p:nvSpPr>
        <p:spPr>
          <a:xfrm>
            <a:off x="228600" y="4400000"/>
            <a:ext cx="8686800" cy="43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50" i="1" dirty="0">
                <a:solidFill>
                  <a:srgbClr val="64748B"/>
                </a:solidFill>
                <a:latin typeface="Calibri" pitchFamily="34" charset="0"/>
              </a:rPr>
              <a:t>📌  Prefijo de endianness: &lt; little-endian (Intel/Windows), &gt; big-endian (red/formatos clásicos). Ejemplo: &lt;IH = uint32 + uint16 little-endian.</a:t>
            </a:r>
            <a:endParaRPr lang="es-ES" dirty="0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struct — Leer Binario con Python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Desempaquetar campos de longitud fija de un fichero binario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4.2 struct código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4100000" cy="7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import struct</a:t>
            </a:r>
            <a:endParaRPr lang="es-ES" dirty="0"/>
          </a:p>
          <a:p>
            <a:pPr algn="l" indent="0" marL="0">
              <a:buNone/>
            </a:pPr>
            <a:r>
              <a:rPr lang="es-ES" sz="1100" dirty="0">
                <a:solidFill>
                  <a:srgbClr val="166534"/>
                </a:solidFill>
                <a:latin typeface="Courier New" pitchFamily="34" charset="0"/>
              </a:rPr>
              <a:t># Abrir evidencia en modo lectura binaria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28600" y="2200000"/>
            <a:ext cx="4100000" cy="7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SHA-256: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 xml:space="preserve">    cabecera = f.read(16)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228600" y="2980000"/>
            <a:ext cx="4100000" cy="4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000" i="1" dirty="0">
                <a:solidFill>
                  <a:srgbClr val="94A3B8"/>
                </a:solidFill>
                <a:latin typeface="Calibri" pitchFamily="34" charset="0"/>
              </a:rPr>
              <a:t># Desempaquetar: &lt; little-endian, i=int32, I=uint32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228600" y="3430000"/>
            <a:ext cx="4100000" cy="7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campo1, campo2 = struct.unpack("&lt;iI", cabecera[:8])</a:t>
            </a:r>
            <a:endParaRPr lang="es-ES" dirty="0"/>
          </a:p>
          <a:p>
            <a:pPr algn="l" indent="0" marL="0">
              <a:buNone/>
            </a:pPr>
            <a:r>
              <a:rPr lang="es-ES" sz="1100" dirty="0">
                <a:solidFill>
                  <a:srgbClr val="991B1B"/>
                </a:solidFill>
                <a:latin typeface="Courier New" pitchFamily="34" charset="0"/>
              </a:rPr>
              <a:t>print(f'Campo 1 (int32) : {campo1}')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228600" y="4200000"/>
            <a:ext cx="4100000" cy="7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991B1B"/>
                </a:solidFill>
                <a:latin typeface="Courier New" pitchFamily="34" charset="0"/>
              </a:rPr>
              <a:t/>
              <a:t>
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4500000" y="1430000"/>
            <a:ext cx="441596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300" b="1" dirty="0">
                <a:solidFill>
                  <a:srgbClr val="0F172A"/>
                </a:solidFill>
                <a:latin typeface="Calibri" pitchFamily="34" charset="0"/>
              </a:rPr>
              <a:t># Empaquetar (útil para crear datasets de prueba):</a:t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binario = struct.pack("&lt;iI", -12345, 67890)</a:t>
            </a:r>
            <a:endParaRPr lang="es-ES" dirty="0"/>
          </a:p>
          <a:p>
            <a:pPr algn="l" indent="0" marL="0">
              <a:buNone/>
            </a:pPr>
            <a:r>
              <a:rPr lang="es-ES" sz="6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# Calcular tamaño de una estructura:</a:t>
            </a:r>
            <a:endParaRPr lang="es-ES" dirty="0"/>
          </a:p>
          <a:p>
            <a:pPr algn="l" indent="0" marL="0">
              <a:buNone/>
            </a:pPr>
            <a:r>
              <a:rPr lang="es-ES" sz="6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1100" b="1" dirty="0">
                <a:solidFill>
                  <a:srgbClr val="0E7490"/>
                </a:solidFill>
                <a:latin typeface="Calibri" pitchFamily="34" charset="0"/>
              </a:rPr>
              <a:t>tamanio = struct.calcsize("&lt;iI")   # → 8 bytes</a:t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Leer toda la cabecera de golpe (f.read(N)) y luego desempaquetar es más eficiente que leer campo a campo. Siempre verificar que len(datos) &gt;= struct.calcsize(formato).</a:t>
            </a:r>
            <a:endParaRPr lang="es-ES" dirty="0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Ficheros Prefetch de Windows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Evidencia de ejecución de programas · Análisis con struct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4.3 Prefetch</a:t>
            </a:r>
            <a:endParaRPr lang="es-ES" dirty="0"/>
          </a:p>
        </p:txBody>
      </p:sp>
      <p:sp>
        <p:nvSpPr>
          <p:cNvPr id="7" name="FC0"/>
          <p:cNvSpPr/>
          <p:nvPr/>
        </p:nvSpPr>
        <p:spPr>
          <a:xfrm>
            <a:off x="228600" y="1430000"/>
            <a:ext cx="1540000" cy="33000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</p:sp>
      <p:sp>
        <p:nvSpPr>
          <p:cNvPr id="8" name="Box8"/>
          <p:cNvSpPr/>
          <p:nvPr/>
        </p:nvSpPr>
        <p:spPr>
          <a:xfrm>
            <a:off x="228600" y="1580000"/>
            <a:ext cx="1540000" cy="30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NOMBRE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E0F2FE"/>
                </a:solidFill>
                <a:latin typeface="Calibri" pitchFamily="34" charset="0"/>
              </a:rPr>
              <a:t/>
              <a:t>
</a:t>
            </a:r>
            <a:endParaRPr lang="es-ES" dirty="0"/>
          </a:p>
        </p:txBody>
      </p:sp>
      <p:sp>
        <p:nvSpPr>
          <p:cNvPr id="9" name="FC1"/>
          <p:cNvSpPr/>
          <p:nvPr/>
        </p:nvSpPr>
        <p:spPr>
          <a:xfrm>
            <a:off x="1860040" y="1430000"/>
            <a:ext cx="1540000" cy="3300000"/>
          </a:xfrm>
          <a:prstGeom prst="rect">
            <a:avLst/>
          </a:prstGeom>
          <a:solidFill>
            <a:srgbClr val="0891B5"/>
          </a:solidFill>
          <a:ln w="0">
            <a:noFill/>
          </a:ln>
        </p:spPr>
      </p:sp>
      <p:sp>
        <p:nvSpPr>
          <p:cNvPr id="10" name="Box10"/>
          <p:cNvSpPr/>
          <p:nvPr/>
        </p:nvSpPr>
        <p:spPr>
          <a:xfrm>
            <a:off x="1860040" y="1580000"/>
            <a:ext cx="1540000" cy="30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HASH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E0F2FE"/>
                </a:solidFill>
                <a:latin typeface="Calibri" pitchFamily="34" charset="0"/>
              </a:rPr>
              <a:t/>
              <a:t>
</a:t>
            </a:r>
            <a:endParaRPr lang="es-ES" dirty="0"/>
          </a:p>
        </p:txBody>
      </p:sp>
      <p:sp>
        <p:nvSpPr>
          <p:cNvPr id="11" name="FC2"/>
          <p:cNvSpPr/>
          <p:nvPr/>
        </p:nvSpPr>
        <p:spPr>
          <a:xfrm>
            <a:off x="3491480" y="1430000"/>
            <a:ext cx="1540000" cy="33000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12" name="Box12"/>
          <p:cNvSpPr/>
          <p:nvPr/>
        </p:nvSpPr>
        <p:spPr>
          <a:xfrm>
            <a:off x="3491480" y="1580000"/>
            <a:ext cx="1540000" cy="30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OFFSET 120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E0F2FE"/>
                </a:solidFill>
                <a:latin typeface="Calibri" pitchFamily="34" charset="0"/>
              </a:rPr>
              <a:t/>
              <a:t>
</a:t>
            </a:r>
            <a:endParaRPr lang="es-ES" dirty="0"/>
          </a:p>
        </p:txBody>
      </p:sp>
      <p:sp>
        <p:nvSpPr>
          <p:cNvPr id="13" name="FC3"/>
          <p:cNvSpPr/>
          <p:nvPr/>
        </p:nvSpPr>
        <p:spPr>
          <a:xfrm>
            <a:off x="5122920" y="1430000"/>
            <a:ext cx="1540000" cy="3300000"/>
          </a:xfrm>
          <a:prstGeom prst="rect">
            <a:avLst/>
          </a:prstGeom>
          <a:solidFill>
            <a:srgbClr val="155E75"/>
          </a:solidFill>
          <a:ln w="0">
            <a:noFill/>
          </a:ln>
        </p:spPr>
      </p:sp>
      <p:sp>
        <p:nvSpPr>
          <p:cNvPr id="14" name="Box14"/>
          <p:cNvSpPr/>
          <p:nvPr/>
        </p:nvSpPr>
        <p:spPr>
          <a:xfrm>
            <a:off x="5122920" y="1580000"/>
            <a:ext cx="1540000" cy="30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EJECUCIONES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E0F2FE"/>
                </a:solidFill>
                <a:latin typeface="Calibri" pitchFamily="34" charset="0"/>
              </a:rPr>
              <a:t/>
              <a:t>
</a:t>
            </a:r>
            <a:endParaRPr lang="es-ES" dirty="0"/>
          </a:p>
        </p:txBody>
      </p:sp>
      <p:sp>
        <p:nvSpPr>
          <p:cNvPr id="15" name="FC4"/>
          <p:cNvSpPr/>
          <p:nvPr/>
        </p:nvSpPr>
        <p:spPr>
          <a:xfrm>
            <a:off x="6754360" y="1430000"/>
            <a:ext cx="1540000" cy="3300000"/>
          </a:xfrm>
          <a:prstGeom prst="rect">
            <a:avLst/>
          </a:prstGeom>
          <a:solidFill>
            <a:srgbClr val="164E63"/>
          </a:solidFill>
          <a:ln w="0">
            <a:noFill/>
          </a:ln>
        </p:spPr>
      </p:sp>
      <p:sp>
        <p:nvSpPr>
          <p:cNvPr id="16" name="Box16"/>
          <p:cNvSpPr/>
          <p:nvPr/>
        </p:nvSpPr>
        <p:spPr>
          <a:xfrm>
            <a:off x="6754360" y="1580000"/>
            <a:ext cx="1540000" cy="300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RUTA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E0F2FE"/>
                </a:solidFill>
                <a:latin typeface="Calibri" pitchFamily="34" charset="0"/>
              </a:rPr>
              <a:t/>
              <a:t>
</a:t>
            </a:r>
            <a:endParaRPr lang="es-ES" dirty="0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Los 4 Formatos de Timestamp Forense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Unix · Windows FILETIME · HFS+ · WebKit — conversión con Python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5.1 Timestamps forenses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datetime import datetime, timezone, timedelta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FILETIME_EPOCH = datetime(1601, 1, 1, tzinfo=timezone.utc)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# uuid4() genera un salt aleatorio y único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salt   = uuid.uuid4().hex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hashed = hashlib.sha256(salt.encode() + password.encode()).hexdigest()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hashed + ':' + salt   # guardar ambos: hash y salt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# FILETIME → UTC (100 nanosegundos desde 1601-01-01)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password_almacenado, salt = hashed_password.split(':')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password_almacenado == hashlib.sha256(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salt.encode() + user_password.encode()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).hexdigest()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def webkit_a_utc(ts):   return FILETIME_EPOCH + timedelta(microseconds=ts)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Conversión inversa (útil para buscar en binarios):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def utc_a_filetime(dt):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int((dt - FILETIME_EPOCH).total_seconds() * 10_000_000)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Ejemplo: FILETIME de Windows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ft = 133879855200000000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print('[+] Contraseña CORRECTA')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# → 2026-03-15T08:23:20+00:00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print('[!] Contraseña INCORRECTA')</a:t>
            </a:r>
            <a:endParaRPr lang="es-ES" dirty="0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Detección de Timestomping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El timestomping es la manipulación de timestamps para ocultar actividad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5.3 Timestomping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import os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datetime import datetime, timezone, timedelta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from pathlib import Path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/>
              <a:t>
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h = hashlib.new(algoritmo)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open(ruta, 'rb') as f: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while bloque := f.read(65536):   # bloques de 64 KB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h.update(bloque)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h.hexdigest()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alertas = []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'hash_sha256': calcular_hash(ruta_archivo),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if mtime &lt; ctime - timedelta(seconds=2):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alertas.append('mtime &lt; ctime: posible backdating')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'fecha_modificacion','hash_sha256','ruta_completa']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if mtime.second == 0 and mtime.microsecond == 0: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 xml:space="preserve">        alertas.append('Segundos exactos: timestamp fabricado')</a:t>
            </a:r>
            <a:endParaRPr lang="es-ES" dirty="0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Timeline Forense — Integración de Fuentes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Ordenar cronológicamente eventos de JSON, SQLite, logs y filesystem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5.4 Timeline</a:t>
            </a:r>
            <a:endParaRPr lang="es-ES" dirty="0"/>
          </a:p>
        </p:txBody>
      </p:sp>
      <p:sp>
        <p:nvSpPr>
          <p:cNvPr id="7" name="EXIF0"/>
          <p:cNvSpPr/>
          <p:nvPr/>
        </p:nvSpPr>
        <p:spPr>
          <a:xfrm>
            <a:off x="228600" y="1440000"/>
            <a:ext cx="21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trip0"/>
          <p:cNvSpPr/>
          <p:nvPr/>
        </p:nvSpPr>
        <p:spPr>
          <a:xfrm>
            <a:off x="228600" y="1440000"/>
            <a:ext cx="2100000" cy="18288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9" name="EXIF1"/>
          <p:cNvSpPr/>
          <p:nvPr/>
        </p:nvSpPr>
        <p:spPr>
          <a:xfrm>
            <a:off x="2420040" y="1440000"/>
            <a:ext cx="21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75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trip1"/>
          <p:cNvSpPr/>
          <p:nvPr/>
        </p:nvSpPr>
        <p:spPr>
          <a:xfrm>
            <a:off x="2420040" y="1440000"/>
            <a:ext cx="2100000" cy="182880"/>
          </a:xfrm>
          <a:prstGeom prst="rect">
            <a:avLst/>
          </a:prstGeom>
          <a:solidFill>
            <a:srgbClr val="155E75"/>
          </a:solidFill>
          <a:ln w="0">
            <a:noFill/>
          </a:ln>
        </p:spPr>
      </p:sp>
      <p:sp>
        <p:nvSpPr>
          <p:cNvPr id="11" name="EXIF2"/>
          <p:cNvSpPr/>
          <p:nvPr/>
        </p:nvSpPr>
        <p:spPr>
          <a:xfrm>
            <a:off x="4611480" y="1440000"/>
            <a:ext cx="21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trip2"/>
          <p:cNvSpPr/>
          <p:nvPr/>
        </p:nvSpPr>
        <p:spPr>
          <a:xfrm>
            <a:off x="4611480" y="1440000"/>
            <a:ext cx="2100000" cy="1828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</p:sp>
      <p:sp>
        <p:nvSpPr>
          <p:cNvPr id="13" name="EXIF3"/>
          <p:cNvSpPr/>
          <p:nvPr/>
        </p:nvSpPr>
        <p:spPr>
          <a:xfrm>
            <a:off x="6802920" y="1440000"/>
            <a:ext cx="21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5"/>
            </a:solidFill>
            <a:prstDash val="solid"/>
          </a:ln>
          <a:effectLst>
            <a:outerShdw blurRad="6096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trip3"/>
          <p:cNvSpPr/>
          <p:nvPr/>
        </p:nvSpPr>
        <p:spPr>
          <a:xfrm>
            <a:off x="6802920" y="1440000"/>
            <a:ext cx="2100000" cy="182880"/>
          </a:xfrm>
          <a:prstGeom prst="rect">
            <a:avLst/>
          </a:prstGeom>
          <a:solidFill>
            <a:srgbClr val="0891B5"/>
          </a:solidFill>
          <a:ln w="0">
            <a:noFill/>
          </a:ln>
        </p:spPr>
      </p:sp>
      <p:sp>
        <p:nvSpPr>
          <p:cNvPr id="15" name="Box15"/>
          <p:cNvSpPr/>
          <p:nvPr/>
        </p:nvSpPr>
        <p:spPr>
          <a:xfrm>
            <a:off x="228600" y="1660000"/>
            <a:ext cx="2100000" cy="192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0F172A"/>
                </a:solidFill>
                <a:latin typeface="Calibri" pitchFamily="34" charset="0"/>
              </a:rPr>
              <a:t>📄 JSON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475569"/>
                </a:solidFill>
                <a:latin typeface="Calibri" pitchFamily="34" charset="0"/>
              </a:rPr>
              <a:t>Fecha y hora de captura
Zona horaria del dispositivo
Timestamp de modificación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420040" y="1660000"/>
            <a:ext cx="2100000" cy="192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0F172A"/>
                </a:solidFill>
                <a:latin typeface="Calibri" pitchFamily="34" charset="0"/>
              </a:rPr>
              <a:t>🗄️ SQLite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475569"/>
                </a:solidFill>
                <a:latin typeface="Calibri" pitchFamily="34" charset="0"/>
              </a:rPr>
              <a:t>Fabricante y modelo
Firmware de la cámara
Número de serie (en algunos)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4611480" y="1660000"/>
            <a:ext cx="2100000" cy="192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0F172A"/>
                </a:solidFill>
                <a:latin typeface="Calibri" pitchFamily="34" charset="0"/>
              </a:rPr>
              <a:t>📋 Filesystem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475569"/>
                </a:solidFill>
                <a:latin typeface="Calibri" pitchFamily="34" charset="0"/>
              </a:rPr>
              <a:t>Latitud y Longitud GPS
Altitud sobre el nivel del mar
Dirección y velocidad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6802920" y="1660000"/>
            <a:ext cx="2100000" cy="1920000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algn="ctr" indent="0" marL="0">
              <a:buNone/>
            </a:pPr>
            <a:r>
              <a:rPr lang="es-ES" sz="1050" b="1" dirty="0">
                <a:solidFill>
                  <a:srgbClr val="0F172A"/>
                </a:solidFill>
                <a:latin typeface="Calibri" pitchFamily="34" charset="0"/>
              </a:rPr>
              <a:t>📝 Logs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475569"/>
                </a:solidFill>
                <a:latin typeface="Calibri" pitchFamily="34" charset="0"/>
              </a:rPr>
              <a:t>Focal, apertura, ISO
Velocidad de obturación
Balance de blancos, flash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228600" y="3740000"/>
            <a:ext cx="8686800" cy="95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991B1B"/>
                </a:solidFill>
                <a:latin typeface="Calibri" pitchFamily="34" charset="0"/>
              </a:rPr>
              <a:t>🔍  Caso forense:</a:t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Cruzar los eventos del JSON (acciones de backup_user) con los mensajes SQLite borrados y los logs del sistema revela una secuencia de exfiltración que ninguna fuente aislada muestra por sí sola.</a:t>
            </a:r>
            <a:endParaRPr lang="es-ES" dirty="0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Script: timeline_builder.py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Integrar eventos de múltiples fuentes en una timeline ordenada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5.4 timeline_builder.py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json, sqlite3, csv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datetime import datetime, timezone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cargar_eventos_json(ruta):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datos = json.loads(Path(ruta).read_text(encoding="utf-8"))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[("JSON", e["timestamp"], e["usuario"], e["accion"]) for e in datos]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def cargar_mensajes_sqlite(ruta):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con = sqlite3.connect(f"file:{ruta}?mode=ro", uri=True)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cur = con.cursor()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cur.execute("SELECT timestamp, remitente, cuerpo FROM mensajes ORDER BY timestamp")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[("SQLite", str(r[0]), r[1], r[2]) for r in cur.fetchall()]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eventos  = cargar_eventos_json("registro_actividad.json")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eventos += cargar_mensajes_sqlite("mensajes.db")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timeline = sorted(eventos, key=lambda e: e[1])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fuente, ts, actor, accion in timeline: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print(f"[{fuente}] {ts} | {actor} | {accion}")</a:t>
            </a:r>
            <a:endParaRPr lang="es-ES" dirty="0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Snapshot Firmado con SHA-256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El resultado del triage se firma con hash para garantizar su integridad en el informe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6.3 Snapshot firmado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8686800" cy="9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300" b="1" dirty="0">
                <a:solidFill>
                  <a:srgbClr val="0F172A"/>
                </a:solidFill>
                <a:latin typeface="Calibri" pitchFamily="34" charset="0"/>
              </a:rPr>
              <a:t>Fórmula de conversión DMS → Decimal:</a:t>
            </a:r>
            <a:endParaRPr lang="es-ES" dirty="0"/>
          </a:p>
          <a:p>
            <a:pPr algn="ctr" indent="0" marL="0">
              <a:buNone/>
            </a:pPr>
            <a:r>
              <a:rPr lang="es-ES" sz="1400" b="1" dirty="0">
                <a:solidFill>
                  <a:srgbClr val="0E7490"/>
                </a:solidFill>
                <a:latin typeface="Courier New" pitchFamily="34" charset="0"/>
              </a:rPr>
              <a:t>Decimal  =  Grados  +  (Minutos / 60)  +  (Segundos / 3600)</a:t>
            </a:r>
            <a:endParaRPr lang="es-ES" dirty="0"/>
          </a:p>
        </p:txBody>
      </p:sp>
      <p:sp>
        <p:nvSpPr>
          <p:cNvPr id="8" name="Code"/>
          <p:cNvSpPr/>
          <p:nvPr/>
        </p:nvSpPr>
        <p:spPr>
          <a:xfrm>
            <a:off x="320040" y="2440000"/>
            <a:ext cx="8503960" cy="24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Coordenada GPS en formato DMS (grados, minutos, segundos):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Latitud: 40° 25' 46.5" N  →  ciudad: Madrid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grados  = 40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minutos = 25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segundos = 46.5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referencia = 'N'   # N/S para latitud, E/W para longitud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decimal = grados + minutos/60 + segundos/3600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referencia in ('S', 'W'):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decimal = -decimal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print(f'Latitud decimal: {decimal:.6f}')   # → 40.429583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En el script EXIF, los valores ya vienen como tuplas: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gps['GPSLatitude'] = (40, 25, 46.5)  →  aplica la misma fórmula</a:t>
            </a:r>
            <a:endParaRPr lang="es-ES" dirty="0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Triage de Sistema en Vivo — ¿Qué es?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¿Por qué capturar el estado antes de apagar?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6.1 Triage forense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3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El triage captura evidencia VOLÁTIL que desaparece al reiniciar: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• Procesos en ejecución → desaparecen al reiniciar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• Conexiones de red activas → evidencia de C2 o exfiltración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• Usuarios con sesión abierta → quién estaba en el equipo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• Memoria RAM → claves de cifrado y artefactos volátiles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Jerarquía de volatilidad (RFC 3227):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① RAM  ②  Swap  ③  Procesos  ④  Red  ⑤  Disco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Regla de oro: actuar de más volátil a menos volátil.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Capturar RAM y procesos antes de cualquier otra acción.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/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320040" y="5010000"/>
            <a:ext cx="8503960" cy="36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💡  psutil es multiplataforma: el mismo script funciona en Windows, macOS y Linux</a:t>
            </a:r>
            <a:endParaRPr lang="es-ES" dirty="0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EJERCICIO FINAL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Triage Completo — Sistema Comprometido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Final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8686800" cy="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A5F3FC"/>
                </a:solidFill>
                <a:latin typeface="Courier New" pitchFamily="34" charset="0"/>
              </a:rPr>
              <a:t>2024-03-15  08:17:01  WARN  [net]  Conexión saliente a 185.220.101.45:443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28600" y="2100000"/>
            <a:ext cx="1520000" cy="14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E7490"/>
                </a:solidFill>
                <a:latin typeface="Calibri" pitchFamily="34" charset="0"/>
              </a:rPr>
              <a:t>FECHA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2024-03-15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1980000" y="2100000"/>
            <a:ext cx="1520000" cy="14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E7490"/>
                </a:solidFill>
                <a:latin typeface="Calibri" pitchFamily="34" charset="0"/>
              </a:rPr>
              <a:t>HORA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08:17:01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3260000" y="2100000"/>
            <a:ext cx="1520000" cy="14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991B1B"/>
                </a:solidFill>
                <a:latin typeface="Calibri" pitchFamily="34" charset="0"/>
              </a:rPr>
              <a:t>NIVEL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WARN / ERROR / INFO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4970000" y="2100000"/>
            <a:ext cx="1520000" cy="14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7C3AED"/>
                </a:solidFill>
                <a:latin typeface="Calibri" pitchFamily="34" charset="0"/>
              </a:rPr>
              <a:t>MÓDULO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[net] [auth] [file]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6480000" y="2100000"/>
            <a:ext cx="2432000" cy="14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1D4ED8"/>
                </a:solidFill>
                <a:latin typeface="Calibri" pitchFamily="34" charset="0"/>
              </a:rPr>
              <a:t>MENSAJE</a:t>
            </a:r>
            <a:endParaRPr lang="es-ES" dirty="0"/>
          </a:p>
          <a:p>
            <a:pPr algn="ctr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Texto libre con IP/ruta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228600" y="3620000"/>
            <a:ext cx="8686800" cy="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Patrón regex:</a:t>
            </a:r>
            <a:endParaRPr lang="es-ES" dirty="0"/>
          </a:p>
          <a:p>
            <a:pPr algn="l" indent="0" marL="0">
              <a:buNone/>
            </a:pPr>
            <a:r>
              <a:rPr lang="es-ES" sz="900" dirty="0">
                <a:solidFill>
                  <a:srgbClr val="1E293B"/>
                </a:solidFill>
                <a:latin typeface="Courier New" pitchFamily="34" charset="0"/>
              </a:rPr>
              <a:t>(?P&lt;fecha&gt;\d{4}-\d{2}-\d{2})\s+(?P&lt;hora&gt;\d{2}:\d{2}:\d{2})\s+(?P&lt;nivel&gt;\w+)\s+\[(?P&lt;modulo&gt;\w+)\]\s+(?P&lt;mensaje&gt;.+)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228600" y="4330000"/>
            <a:ext cx="8686800" cy="5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Los grupos nombrados (?P&lt;nombre&gt;) permiten acceder a cada parte por nombre: m.group('fecha'), m.group('nivel'), etc.</a:t>
            </a:r>
            <a:endParaRPr lang="es-ES" dirty="0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Dataset del Ejercicio Final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Generar las evidencias del caso antes de comenzar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Ejercicio Final — Setup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06B6D4"/>
                </a:solidFill>
                <a:latin typeface="Courier New" pitchFamily="34" charset="0"/>
              </a:rPr>
              <a:t>(?P&lt;fecha&gt;\d{4}-\d{2}-\d{2})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3800000" y="1430000"/>
            <a:ext cx="1100000" cy="47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fecha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5000000" y="14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4 dígitos - 2 dígitos - 2 dígitos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228600" y="19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0891B5"/>
                </a:solidFill>
                <a:latin typeface="Courier New" pitchFamily="34" charset="0"/>
              </a:rPr>
              <a:t>\s+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800000" y="1930000"/>
            <a:ext cx="1100000" cy="470000"/>
          </a:xfrm>
          <a:prstGeom prst="rect">
            <a:avLst/>
          </a:prstGeom>
          <a:solidFill>
            <a:srgbClr val="0891B5"/>
          </a:solidFill>
          <a:ln w="12700">
            <a:solidFill>
              <a:srgbClr val="0891B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sep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5000000" y="19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Uno o más espacios en blanco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228600" y="24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0E7490"/>
                </a:solidFill>
                <a:latin typeface="Courier New" pitchFamily="34" charset="0"/>
              </a:rPr>
              <a:t>(?P&lt;hora&gt;\d{2}:\d{2}:\d{2})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3800000" y="2430000"/>
            <a:ext cx="1100000" cy="470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hora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5000000" y="24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HH:MM:SS  (2 dígitos cada uno)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28600" y="29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7C3AED"/>
                </a:solidFill>
                <a:latin typeface="Courier New" pitchFamily="34" charset="0"/>
              </a:rPr>
              <a:t>\s+(?P&lt;nivel&gt;\w+)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3800000" y="2930000"/>
            <a:ext cx="1100000" cy="47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nivel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5000000" y="29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Una o más letras/dígitos (INFO, WARN...)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228600" y="34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1D4ED8"/>
                </a:solidFill>
                <a:latin typeface="Courier New" pitchFamily="34" charset="0"/>
              </a:rPr>
              <a:t>\s+\[(?P&lt;modulo&gt;\w+)\]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3800000" y="3430000"/>
            <a:ext cx="1100000" cy="47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modulo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5000000" y="34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Texto entre corchetes [net] [auth]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228600" y="3930000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900" b="1" dirty="0">
                <a:solidFill>
                  <a:srgbClr val="0F172A"/>
                </a:solidFill>
                <a:latin typeface="Courier New" pitchFamily="34" charset="0"/>
              </a:rPr>
              <a:t>\s+(?P&lt;mensaje&gt;.+)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3800000" y="3930000"/>
            <a:ext cx="1100000" cy="4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mensaje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5000000" y="3930000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algn="l" indent="0" marL="0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Cualquier carácter hasta fin de línea</a:t>
            </a:r>
            <a:endParaRPr lang="es-ES" dirty="0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triage.py — Script Completo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Ejecuta el triage y guarda el snapshot firmado en JSON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6.2 triage.py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re, sys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collections import Counter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PATRON_LOG = re.compile(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r'(?P&lt;fecha&gt;\d{4}-\d{2}-\d{2})'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r'\s+(?P&lt;hora&gt;\d{2}:\d{2}:\d{2})'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r'\s+(?P&lt;nivel&gt;\w+)'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r'\s+\[(?P&lt;modulo&gt;\w+)\]'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r'\s+(?P&lt;mensaje&gt;.+)'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PATRON_IP = re.compile(r'\b(\d{1,3}\.\d{1,3}\.\d{1,3}\.\d{1,3})\b')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parsear_log(ruta):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eventos = []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open(ruta, encoding='utf-8') as f: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for linea in f: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m = PATRON_LOG.match(linea.strip())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if m: eventos.append(m.groupdict())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eventos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analizar(eventos):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niveles  = Counter(e['nivel']   for e in eventos)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criticos = [e for e in eventos if e['nivel'] in ('ERROR','WARN')]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ips      = {ip for e in eventos for ip in PATRON_IP.findall(e['mensaje'])}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niveles, criticos, ips</a:t>
            </a:r>
            <a:endParaRPr lang="es-ES" dirty="0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Resultado del Triage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Salida de triage.py aplicado al sistema del caso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6.2 Resultados</a:t>
            </a:r>
            <a:endParaRPr lang="es-ES" dirty="0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570000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$ python log_analyzer.py evidencias_usb/logs/sistema.log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[*] Total eventos: 8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[+] Distribución por nivel: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INFO    : 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WARN    : 2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ERROR   : 1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[!] Eventos críticos (WARN / ERROR):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08:17:01 [WARN]  Conexión saliente a 185.220.101.45:443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08:17:05 [ERROR] Fallo de acceso a /etc/shadow por usuario admin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08:25:50 [WARN]  Dispositivo USB conectado: Vendor=0930 Product=6545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[+] IPs detectadas en el log: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10.0.0.5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185.220.101.45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192.168.1.101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6100000" y="1420000"/>
            <a:ext cx="2823960" cy="35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Interpretación forense</a:t>
            </a:r>
            <a:endParaRPr lang="es-ES" dirty="0"/>
          </a:p>
          <a:p>
            <a:pPr algn="l" indent="0" marL="0">
              <a:buNone/>
            </a:pPr>
            <a:r>
              <a:rPr lang="es-ES" sz="4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185.220.101.45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Nodo de salida Tor conocido. Conexión saliente sospechosa.</a:t>
            </a:r>
            <a:endParaRPr lang="es-ES" dirty="0"/>
          </a:p>
          <a:p>
            <a:pPr algn="l" indent="0" marL="0">
              <a:buNone/>
            </a:pPr>
            <a:r>
              <a:rPr lang="es-ES" sz="4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Acceso a /etc/shadow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Intento de leer contraseñas del sistema. Posible escalada de privilegios.</a:t>
            </a:r>
            <a:endParaRPr lang="es-ES" dirty="0"/>
          </a:p>
          <a:p>
            <a:pPr algn="l" indent="0" marL="0">
              <a:buNone/>
            </a:pPr>
            <a:r>
              <a:rPr lang="es-ES" sz="400" dirty="0">
                <a:solidFill>
                  <a:srgbClr val="1E293B"/>
                </a:solidFill>
                <a:latin typeface="Calibri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USB conectado</a:t>
            </a:r>
            <a:endParaRPr lang="es-ES" dirty="0"/>
          </a:p>
          <a:p>
            <a:pPr algn="l" indent="0" marL="0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Posible exfiltración de datos al dispositivo externo.</a:t>
            </a:r>
            <a:endParaRPr lang="es-ES" dirty="0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Recursos y Ampliaciones — Jornada 2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Herramientas, librerías y lecturas recomendadas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6.4 Recursos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4200000" cy="12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¿Por qué importa la IP 185.220.101.45?</a:t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Es un nodo de salida de la red Tor. El tráfico a esta IP sugiere que alguien intentaba anonimizar su actividad.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600000" y="1430000"/>
            <a:ext cx="4314000" cy="12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Fuentes de inteligencia abiertas (OSINT)</a:t>
            </a:r>
            <a:endParaRPr lang="es-ES" dirty="0"/>
          </a:p>
          <a:p>
            <a:pPr algn="l" indent="0" marL="0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• TorProject exit nodes list
• AbuseIPDB
• Shodan
• VirusTotal IP lookup</a:t>
            </a:r>
            <a:endParaRPr lang="es-ES" dirty="0"/>
          </a:p>
        </p:txBody>
      </p:sp>
      <p:sp>
        <p:nvSpPr>
          <p:cNvPr id="9" name="Code"/>
          <p:cNvSpPr/>
          <p:nvPr/>
        </p:nvSpPr>
        <p:spPr>
          <a:xfrm>
            <a:off x="228600" y="2750000"/>
            <a:ext cx="8686800" cy="22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Ampliación: cruzar IPs con lista negra de nodos Tor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(requiere conexión a internet en el entorno de análisis)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urllib.request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TOR_EXIT_URL = 'https://check.torproject.org/torbulkexitlist'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cargar_nodos_tor():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urllib.request.urlopen(TOR_EXIT_URL) as r: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return set(r.read().decode().splitlines())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nodos_tor = cargar_nodos_tor()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/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ip in ips_detectadas: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if ip in nodos_tor: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print(f'[!] ALERTA: {ip} es nodo de salida Tor')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else:</a:t>
            </a:r>
            <a:endParaRPr lang="es-ES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print(f'[*] IP sin clasificar: {ip}')</a:t>
            </a:r>
            <a:endParaRPr lang="es-ES" dirty="0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cias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BottomBar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itleGracias"/>
          <p:cNvSpPr/>
          <p:nvPr/>
        </p:nvSpPr>
        <p:spPr>
          <a:xfrm>
            <a:off x="457200" y="4800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0" b="1" dirty="0">
                <a:solidFill>
                  <a:srgbClr val="FFFFFF"/>
                </a:solidFill>
                <a:latin typeface="Calibri" pitchFamily="34" charset="0"/>
              </a:rPr>
              <a:t>GRACIAS</a:t>
            </a:r>
          </a:p>
        </p:txBody>
      </p:sp>
      <p:sp>
        <p:nvSpPr>
          <p:cNvPr id="5" name="Separator"/>
          <p:cNvSpPr/>
          <p:nvPr/>
        </p:nvSpPr>
        <p:spPr>
          <a:xfrm>
            <a:off x="3200400" y="2149860"/>
            <a:ext cx="2743200" cy="381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</p:sp>
      <p:sp>
        <p:nvSpPr>
          <p:cNvPr id="6" name="NombreTexto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800" b="1" dirty="0">
                <a:solidFill>
                  <a:srgbClr val="FFFFFF"/>
                </a:solidFill>
                <a:latin typeface="Calibri" pitchFamily="34" charset="0"/>
              </a:rPr>
              <a:t>Sergio Modino</a:t>
            </a:r>
          </a:p>
        </p:txBody>
      </p:sp>
      <p:sp>
        <p:nvSpPr>
          <p:cNvPr id="7" name="EmailTexto"/>
          <p:cNvSpPr/>
          <p:nvPr/>
        </p:nvSpPr>
        <p:spPr>
          <a:xfrm>
            <a:off x="457200" y="28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600" dirty="0">
                <a:solidFill>
                  <a:srgbClr val="BAE6FD"/>
                </a:solidFill>
                <a:latin typeface="Calibri" pitchFamily="34" charset="0"/>
              </a:rPr>
              <a:t>sergio@enoges.com</a:t>
            </a:r>
          </a:p>
        </p:txBody>
      </p:sp>
      <p:sp>
        <p:nvSpPr>
          <p:cNvPr id="8" name="GitHubBadge"/>
          <p:cNvSpPr/>
          <p:nvPr/>
        </p:nvSpPr>
        <p:spPr>
          <a:xfrm>
            <a:off x="1143000" y="34290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24292E"/>
          </a:solidFill>
          <a:ln w="19050">
            <a:solidFill>
              <a:srgbClr val="444D5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◯ GitHub</a:t>
            </a:r>
          </a:p>
        </p:txBody>
      </p:sp>
      <p:sp>
        <p:nvSpPr>
          <p:cNvPr id="9" name="LinkedInBadge"/>
          <p:cNvSpPr/>
          <p:nvPr/>
        </p:nvSpPr>
        <p:spPr>
          <a:xfrm>
            <a:off x="2819400" y="34290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0A66C2"/>
          </a:solidFill>
          <a:ln w="19050">
            <a:solidFill>
              <a:srgbClr val="0A66C2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in  LinkedIn</a:t>
            </a:r>
          </a:p>
        </p:txBody>
      </p:sp>
      <p:sp>
        <p:nvSpPr>
          <p:cNvPr id="10" name="XBadge"/>
          <p:cNvSpPr/>
          <p:nvPr/>
        </p:nvSpPr>
        <p:spPr>
          <a:xfrm>
            <a:off x="4495800" y="34290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9050">
            <a:solidFill>
              <a:srgbClr val="333333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X  (Twitter)</a:t>
            </a:r>
          </a:p>
        </p:txBody>
      </p:sp>
      <p:sp>
        <p:nvSpPr>
          <p:cNvPr id="11" name="EmailBadge"/>
          <p:cNvSpPr/>
          <p:nvPr/>
        </p:nvSpPr>
        <p:spPr>
          <a:xfrm>
            <a:off x="6172200" y="3429000"/>
            <a:ext cx="1828800" cy="3810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9050">
            <a:solidFill>
              <a:srgbClr val="06B6D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@ sergio@enoges.com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Informática Forense con Python — Jornada 1</dc:title>
  <dc:subject>PptxGenJS Presentation</dc:subject>
  <dc:creator>GalileoForense</dc:creator>
  <cp:lastModifiedBy>GalileoForense</cp:lastModifiedBy>
  <cp:revision>1</cp:revision>
  <dcterms:created xsi:type="dcterms:W3CDTF">2026-04-09T19:33:19Z</dcterms:created>
  <dcterms:modified xsi:type="dcterms:W3CDTF">2026-04-09T19:33:19Z</dcterms:modified>
</cp:coreProperties>
</file>