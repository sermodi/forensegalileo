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1"/>
  </p:notesMasterIdLst>
  <p:sldIdLst>
    <p:sldId id="256" r:id="rId5"/>
    <p:sldId id="257" r:id="rId6"/>
    <p:sldId id="258" r:id="rId7"/>
    <p:sldId id="259" r:id="rId8"/>
    <p:sldId id="260" r:id="rId9"/>
    <p:sldId id="302" r:id="rId10"/>
    <p:sldId id="303" r:id="rId11"/>
    <p:sldId id="262" r:id="rId12"/>
    <p:sldId id="263" r:id="rId13"/>
    <p:sldId id="264" r:id="rId14"/>
    <p:sldId id="266" r:id="rId15"/>
    <p:sldId id="304" r:id="rId16"/>
    <p:sldId id="265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397" autoAdjust="0"/>
  </p:normalViewPr>
  <p:slideViewPr>
    <p:cSldViewPr snapToGrid="0" snapToObjects="1">
      <p:cViewPr varScale="1">
        <p:scale>
          <a:sx n="102" d="100"/>
          <a:sy n="102" d="100"/>
        </p:scale>
        <p:origin x="19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451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A0318-9B67-C165-8778-106BCA5F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05C1D-43EE-07FB-A8E8-8720E7FE6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3939B-119A-67DC-5A27-D314AE825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973E4-701F-2C37-2109-1F516BC0B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44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4578-28B0-0548-D9C5-FDBF7BE0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4E7F9-7D84-A70D-DE25-9127A7D9D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6A6C2-1CE8-38DF-B30C-1FA6A73A0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84408-C128-3728-0B9A-3B61502EB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20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70A89-A53F-DCB0-0176-82B682D5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89EF5-C405-FBD2-07E8-C2676D791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AFA55-B391-3F6E-EA1C-0F49694CD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B99F0-84CB-6FA0-C3CA-6CE25CBAB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68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La búsqueda como uno de los pilares de la investigación forense, ayuda a responder preguntas como que quien donde y cuando</a:t>
            </a:r>
          </a:p>
        </p:txBody>
      </p:sp>
    </p:spTree>
    <p:extLst>
      <p:ext uri="{BB962C8B-B14F-4D97-AF65-F5344CB8AC3E}">
        <p14:creationId xmlns:p14="http://schemas.microsoft.com/office/powerpoint/2010/main" val="4083024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EXIF -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metadatos incrustados en archivos de imagen (JPG, RAW, TIFF) por cámaras digitales y móviles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4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5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INTENSIVA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Forense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Python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1 — 4 horas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1872691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18726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Forense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5651" y="4160520"/>
            <a:ext cx="1199693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95651" y="4160520"/>
            <a:ext cx="11996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DFIR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13556" y="4160520"/>
            <a:ext cx="86319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213556" y="4160520"/>
            <a:ext cx="8631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02276" y="4160520"/>
            <a:ext cx="610819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02276" y="4160520"/>
            <a:ext cx="610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84341" y="4160520"/>
            <a:ext cx="610819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384341" y="4160520"/>
            <a:ext cx="610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Jornada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 · 2 bloques · 1 descanso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14884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Forense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orientado a DFIR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1: inventario_forense.py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12344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697480" y="1234440"/>
            <a:ext cx="21488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97480" y="1234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88920" y="19933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15 - 30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café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0" y="12344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074920" y="1234440"/>
            <a:ext cx="21488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74920" y="1234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6360" y="19933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228600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e integridad de la evidencia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EXIF con Pillow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logs con Python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52360" y="1234440"/>
            <a:ext cx="1371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7452360" y="1234440"/>
            <a:ext cx="137160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45236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43800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4380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· Preview Jornada 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28803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846320" y="28803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7223760" y="28803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Aprendizaje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jornada el alumno será capaz de…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2070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los fundamentos de la informática forense y la cadena de custodia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11480" y="199339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057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el uso de Python en investigaciones DFIR frente a otras herramientas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43784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20040" y="2843784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11480" y="284378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90779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ciclo de desarrollo forense (Identificar → Planificar → Programar → Validar)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694176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20040" y="3694176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11480" y="3694176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37581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scripts Python para inventariar sistemas de archivos con metadatos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754880" y="1143000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846320" y="114300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03520" y="12070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y verificar hashes MD5 y SHA-256 para preservar la integridad de la evidencia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993392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54880" y="1993392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199339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03520" y="2057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metadatos EXIF —incluidas coordenadas GPS— de imágenes con Pillow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843784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754880" y="2843784"/>
            <a:ext cx="5029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846320" y="284378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03520" y="290779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Parsear y filtrar ficheros de log con expresiones regulares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5735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Forense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Python DFIR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371600" y="434340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371600" y="4343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forenses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0" y="4343400"/>
            <a:ext cx="15544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0" y="4343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 DFIR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434340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4343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desarrollo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Informática Forense?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· Aplicación · Alcance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1" y="1115568"/>
            <a:ext cx="2076994" cy="41931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2076994" cy="41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Conceptos 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9426"/>
            <a:ext cx="8229600" cy="2866947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21894" y="2138182"/>
            <a:ext cx="7741461" cy="2292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Disciplina que aplica técnicas científicas y analíticas a sistemas informáticos para </a:t>
            </a: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identificar, preservar, recuperar, </a:t>
            </a:r>
            <a:r>
              <a:rPr lang="en-US" sz="20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y presentar evidencias </a:t>
            </a:r>
            <a:r>
              <a:rPr lang="en-US" sz="20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</a:t>
            </a: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válida en un proceso legal o administrativo.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84F50-40FD-04DC-9657-437B42705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6A1130-F84B-A1FC-BCD4-2DB3C0337C0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4C5C90-6333-2979-269C-0DCC2954996F}"/>
              </a:ext>
            </a:extLst>
          </p:cNvPr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Informática Forense?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DE5F6A-A8D6-FF38-2E39-AA31625348D4}"/>
              </a:ext>
            </a:extLst>
          </p:cNvPr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· Aplicación · Alcance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3111925-A96A-1B21-A222-2FA5B28F1F98}"/>
              </a:ext>
            </a:extLst>
          </p:cNvPr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1B33E19-A3B7-275A-22F4-C4F87581311D}"/>
              </a:ext>
            </a:extLst>
          </p:cNvPr>
          <p:cNvSpPr/>
          <p:nvPr/>
        </p:nvSpPr>
        <p:spPr>
          <a:xfrm>
            <a:off x="1086280" y="2119775"/>
            <a:ext cx="3348560" cy="1022179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7EF354E-CF2F-6862-F7AC-555E0CEC98D9}"/>
              </a:ext>
            </a:extLst>
          </p:cNvPr>
          <p:cNvSpPr/>
          <p:nvPr/>
        </p:nvSpPr>
        <p:spPr>
          <a:xfrm>
            <a:off x="1086280" y="2119775"/>
            <a:ext cx="3348560" cy="1022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Huellas digitales</a:t>
            </a:r>
            <a:endParaRPr lang="en-US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7D9A53-3D3A-9E52-1DAB-E80874C7E40C}"/>
              </a:ext>
            </a:extLst>
          </p:cNvPr>
          <p:cNvSpPr/>
          <p:nvPr/>
        </p:nvSpPr>
        <p:spPr>
          <a:xfrm>
            <a:off x="4709164" y="2119775"/>
            <a:ext cx="3348556" cy="1022179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509E6B7-2BE8-138A-3906-17F101077573}"/>
              </a:ext>
            </a:extLst>
          </p:cNvPr>
          <p:cNvSpPr/>
          <p:nvPr/>
        </p:nvSpPr>
        <p:spPr>
          <a:xfrm>
            <a:off x="4709164" y="2119775"/>
            <a:ext cx="3348556" cy="1070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4A57B44-4142-FF26-69B1-010D64316EB6}"/>
              </a:ext>
            </a:extLst>
          </p:cNvPr>
          <p:cNvSpPr/>
          <p:nvPr/>
        </p:nvSpPr>
        <p:spPr>
          <a:xfrm>
            <a:off x="1086279" y="3443706"/>
            <a:ext cx="3348559" cy="1022178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4F52D0A-D465-DBCE-9217-43898BDE29BC}"/>
              </a:ext>
            </a:extLst>
          </p:cNvPr>
          <p:cNvSpPr/>
          <p:nvPr/>
        </p:nvSpPr>
        <p:spPr>
          <a:xfrm>
            <a:off x="1086279" y="3443706"/>
            <a:ext cx="3348559" cy="10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4F9B386-D249-6868-63F9-8518009EC56E}"/>
              </a:ext>
            </a:extLst>
          </p:cNvPr>
          <p:cNvSpPr/>
          <p:nvPr/>
        </p:nvSpPr>
        <p:spPr>
          <a:xfrm>
            <a:off x="4709164" y="3443706"/>
            <a:ext cx="3348556" cy="102217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47DAE30-93B3-535D-22CD-31081BD57EB7}"/>
              </a:ext>
            </a:extLst>
          </p:cNvPr>
          <p:cNvSpPr/>
          <p:nvPr/>
        </p:nvSpPr>
        <p:spPr>
          <a:xfrm>
            <a:off x="4709164" y="3443706"/>
            <a:ext cx="3348556" cy="10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 digital / análisis de señal</a:t>
            </a: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427ED7A-C26E-6A72-B5F2-11CC1F76B2AA}"/>
              </a:ext>
            </a:extLst>
          </p:cNvPr>
          <p:cNvSpPr/>
          <p:nvPr/>
        </p:nvSpPr>
        <p:spPr>
          <a:xfrm>
            <a:off x="457201" y="1589423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que analiza:</a:t>
            </a:r>
            <a:endParaRPr lang="en-US" sz="1200" dirty="0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FA993AB0-BFBD-E2FB-121B-88CF8A6BF848}"/>
              </a:ext>
            </a:extLst>
          </p:cNvPr>
          <p:cNvSpPr/>
          <p:nvPr/>
        </p:nvSpPr>
        <p:spPr>
          <a:xfrm>
            <a:off x="457201" y="1115568"/>
            <a:ext cx="2076994" cy="41931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7AA22BC1-7CE8-899F-9757-39EA8BA259C8}"/>
              </a:ext>
            </a:extLst>
          </p:cNvPr>
          <p:cNvSpPr/>
          <p:nvPr/>
        </p:nvSpPr>
        <p:spPr>
          <a:xfrm>
            <a:off x="457200" y="1115568"/>
            <a:ext cx="2076994" cy="41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Conceptos base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0336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D8B7D-82B2-1937-8833-BE09C433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032AF4-A439-5057-A95B-A56164DA676B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6A7330-51FB-7CD4-1D26-8EDB38F04863}"/>
              </a:ext>
            </a:extLst>
          </p:cNvPr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Informática Forense?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7D7FE8-C0F9-EF4B-2131-7917CBF1C4C5}"/>
              </a:ext>
            </a:extLst>
          </p:cNvPr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· Aplicación · Alcance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C9CC6DB-F116-AC4A-3272-8A2F67F885C2}"/>
              </a:ext>
            </a:extLst>
          </p:cNvPr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21A1F1F-5095-5CD9-6750-2F430103ECC4}"/>
              </a:ext>
            </a:extLst>
          </p:cNvPr>
          <p:cNvSpPr/>
          <p:nvPr/>
        </p:nvSpPr>
        <p:spPr>
          <a:xfrm>
            <a:off x="5756251" y="1367355"/>
            <a:ext cx="1330694" cy="467318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C9F734E-2131-4E43-8DB8-23AB84ACB785}"/>
              </a:ext>
            </a:extLst>
          </p:cNvPr>
          <p:cNvSpPr/>
          <p:nvPr/>
        </p:nvSpPr>
        <p:spPr>
          <a:xfrm>
            <a:off x="5756251" y="1367355"/>
            <a:ext cx="1330694" cy="467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Huellas digitales</a:t>
            </a:r>
            <a:endParaRPr lang="en-US" sz="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B343EB7-E6E6-70F6-3E96-1E7357E41422}"/>
              </a:ext>
            </a:extLst>
          </p:cNvPr>
          <p:cNvSpPr/>
          <p:nvPr/>
        </p:nvSpPr>
        <p:spPr>
          <a:xfrm>
            <a:off x="7356451" y="1367355"/>
            <a:ext cx="1330694" cy="46731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A290FCE-093E-9D32-55B8-DF72CBB894FD}"/>
              </a:ext>
            </a:extLst>
          </p:cNvPr>
          <p:cNvSpPr/>
          <p:nvPr/>
        </p:nvSpPr>
        <p:spPr>
          <a:xfrm>
            <a:off x="7356451" y="1367355"/>
            <a:ext cx="1330694" cy="467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1D220CF-E717-4277-A0F9-F9329E494521}"/>
              </a:ext>
            </a:extLst>
          </p:cNvPr>
          <p:cNvSpPr/>
          <p:nvPr/>
        </p:nvSpPr>
        <p:spPr>
          <a:xfrm>
            <a:off x="5756251" y="1950933"/>
            <a:ext cx="1330694" cy="467318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9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178FFBB-879C-19B6-B318-5CC8FA89471C}"/>
              </a:ext>
            </a:extLst>
          </p:cNvPr>
          <p:cNvSpPr/>
          <p:nvPr/>
        </p:nvSpPr>
        <p:spPr>
          <a:xfrm>
            <a:off x="5756251" y="1950933"/>
            <a:ext cx="1330694" cy="467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digital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52EBD81-CF91-97F8-C356-B7D3CF03587F}"/>
              </a:ext>
            </a:extLst>
          </p:cNvPr>
          <p:cNvSpPr/>
          <p:nvPr/>
        </p:nvSpPr>
        <p:spPr>
          <a:xfrm>
            <a:off x="7356451" y="1950933"/>
            <a:ext cx="1330694" cy="46731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CC9ED63-1151-761B-4B3A-EA34AAF58961}"/>
              </a:ext>
            </a:extLst>
          </p:cNvPr>
          <p:cNvSpPr/>
          <p:nvPr/>
        </p:nvSpPr>
        <p:spPr>
          <a:xfrm>
            <a:off x="7356451" y="1950933"/>
            <a:ext cx="1330694" cy="467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 digital / análisis de señal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B183A80-A33C-B142-AC88-96025DE673E4}"/>
              </a:ext>
            </a:extLst>
          </p:cNvPr>
          <p:cNvSpPr/>
          <p:nvPr/>
        </p:nvSpPr>
        <p:spPr>
          <a:xfrm>
            <a:off x="5623905" y="1022495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que analiza: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059E873-9D71-57A6-02F4-34BFDFC6C432}"/>
              </a:ext>
            </a:extLst>
          </p:cNvPr>
          <p:cNvSpPr/>
          <p:nvPr/>
        </p:nvSpPr>
        <p:spPr>
          <a:xfrm>
            <a:off x="212787" y="3087405"/>
            <a:ext cx="1554480" cy="721445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B16D12B-1142-81AD-B9C6-A498B889CAB4}"/>
              </a:ext>
            </a:extLst>
          </p:cNvPr>
          <p:cNvSpPr/>
          <p:nvPr/>
        </p:nvSpPr>
        <p:spPr>
          <a:xfrm>
            <a:off x="212787" y="3087405"/>
            <a:ext cx="1554480" cy="72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Identificación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52343E9-317C-3059-33CC-F1A428F61866}"/>
              </a:ext>
            </a:extLst>
          </p:cNvPr>
          <p:cNvSpPr/>
          <p:nvPr/>
        </p:nvSpPr>
        <p:spPr>
          <a:xfrm>
            <a:off x="1767267" y="3455744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071BA70-1284-025C-8A22-8F16233F7591}"/>
              </a:ext>
            </a:extLst>
          </p:cNvPr>
          <p:cNvSpPr/>
          <p:nvPr/>
        </p:nvSpPr>
        <p:spPr>
          <a:xfrm>
            <a:off x="1950147" y="3087405"/>
            <a:ext cx="1554480" cy="721445"/>
          </a:xfrm>
          <a:prstGeom prst="rect">
            <a:avLst/>
          </a:prstGeom>
          <a:solidFill>
            <a:srgbClr val="0E4F6E"/>
          </a:solidFill>
          <a:ln w="12700">
            <a:solidFill>
              <a:srgbClr val="0E4F6E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D3DD9DD-5D9F-A04A-582D-E98647D5166B}"/>
              </a:ext>
            </a:extLst>
          </p:cNvPr>
          <p:cNvSpPr/>
          <p:nvPr/>
        </p:nvSpPr>
        <p:spPr>
          <a:xfrm>
            <a:off x="1950147" y="3087405"/>
            <a:ext cx="1554480" cy="72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Preservación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1B9E7A0-E8BD-C7F0-B253-BDAAD45410EA}"/>
              </a:ext>
            </a:extLst>
          </p:cNvPr>
          <p:cNvSpPr/>
          <p:nvPr/>
        </p:nvSpPr>
        <p:spPr>
          <a:xfrm>
            <a:off x="3504627" y="3455744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9FAC595-13F5-40FC-41F4-E787000B4ACF}"/>
              </a:ext>
            </a:extLst>
          </p:cNvPr>
          <p:cNvSpPr/>
          <p:nvPr/>
        </p:nvSpPr>
        <p:spPr>
          <a:xfrm>
            <a:off x="3687507" y="3087405"/>
            <a:ext cx="1554480" cy="721445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C3047E6-E3F9-314F-5E5A-5B7A19FED92F}"/>
              </a:ext>
            </a:extLst>
          </p:cNvPr>
          <p:cNvSpPr/>
          <p:nvPr/>
        </p:nvSpPr>
        <p:spPr>
          <a:xfrm>
            <a:off x="3687507" y="3087405"/>
            <a:ext cx="1554480" cy="72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Recolección</a:t>
            </a:r>
            <a:endParaRPr lang="en-US" sz="14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E2FD1F1-A571-DD07-D816-A6FE555B49DC}"/>
              </a:ext>
            </a:extLst>
          </p:cNvPr>
          <p:cNvSpPr/>
          <p:nvPr/>
        </p:nvSpPr>
        <p:spPr>
          <a:xfrm>
            <a:off x="5241987" y="3455744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656D26D-0BEB-6FD9-ACDF-ACB0A1353AF2}"/>
              </a:ext>
            </a:extLst>
          </p:cNvPr>
          <p:cNvSpPr/>
          <p:nvPr/>
        </p:nvSpPr>
        <p:spPr>
          <a:xfrm>
            <a:off x="5424867" y="3087405"/>
            <a:ext cx="1554480" cy="72144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80CBF41-93E2-F34E-8209-E95151AD2379}"/>
              </a:ext>
            </a:extLst>
          </p:cNvPr>
          <p:cNvSpPr/>
          <p:nvPr/>
        </p:nvSpPr>
        <p:spPr>
          <a:xfrm>
            <a:off x="5424867" y="3087405"/>
            <a:ext cx="1554480" cy="72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Análisis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28FA239-E38D-39D2-D671-9982825CA7A6}"/>
              </a:ext>
            </a:extLst>
          </p:cNvPr>
          <p:cNvSpPr/>
          <p:nvPr/>
        </p:nvSpPr>
        <p:spPr>
          <a:xfrm>
            <a:off x="6979347" y="3455744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0571F39-3743-A040-BEEB-C6B3CF152F89}"/>
              </a:ext>
            </a:extLst>
          </p:cNvPr>
          <p:cNvSpPr/>
          <p:nvPr/>
        </p:nvSpPr>
        <p:spPr>
          <a:xfrm>
            <a:off x="7162227" y="3087405"/>
            <a:ext cx="1554480" cy="72144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FF916C9-4694-187F-5B2A-F8D03CE08654}"/>
              </a:ext>
            </a:extLst>
          </p:cNvPr>
          <p:cNvSpPr/>
          <p:nvPr/>
        </p:nvSpPr>
        <p:spPr>
          <a:xfrm>
            <a:off x="7162227" y="3087405"/>
            <a:ext cx="1554480" cy="72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Presentación</a:t>
            </a:r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6E7F9C5-1288-8001-BD80-927BDA339EDB}"/>
              </a:ext>
            </a:extLst>
          </p:cNvPr>
          <p:cNvSpPr/>
          <p:nvPr/>
        </p:nvSpPr>
        <p:spPr>
          <a:xfrm>
            <a:off x="258507" y="2538213"/>
            <a:ext cx="8412480" cy="419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fases del proceso forense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BECAECF-F224-3F8E-0E4C-B4417C2E8162}"/>
              </a:ext>
            </a:extLst>
          </p:cNvPr>
          <p:cNvSpPr/>
          <p:nvPr/>
        </p:nvSpPr>
        <p:spPr>
          <a:xfrm>
            <a:off x="212787" y="4129926"/>
            <a:ext cx="8503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3C28264-C1D0-55F0-E26C-FB8F3DECFF6C}"/>
              </a:ext>
            </a:extLst>
          </p:cNvPr>
          <p:cNvSpPr/>
          <p:nvPr/>
        </p:nvSpPr>
        <p:spPr>
          <a:xfrm>
            <a:off x="349947" y="412992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Cada vez que ejecutemos un script sobre evidencias, debemos registrar el hash </a:t>
            </a: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y después</a:t>
            </a: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para demostrar que no se ha modificado nada.</a:t>
            </a:r>
            <a:endParaRPr lang="en-US" sz="1300" dirty="0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1EB574B2-3137-0F6E-85DB-36BB8B3180A2}"/>
              </a:ext>
            </a:extLst>
          </p:cNvPr>
          <p:cNvSpPr/>
          <p:nvPr/>
        </p:nvSpPr>
        <p:spPr>
          <a:xfrm>
            <a:off x="457201" y="1115568"/>
            <a:ext cx="2076994" cy="41931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B9A379EE-56F8-5E8A-F3F6-C2E103A72389}"/>
              </a:ext>
            </a:extLst>
          </p:cNvPr>
          <p:cNvSpPr/>
          <p:nvPr/>
        </p:nvSpPr>
        <p:spPr>
          <a:xfrm>
            <a:off x="457200" y="1115568"/>
            <a:ext cx="2076994" cy="41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Conceptos base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06389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Custodia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pilar de la validez legal de la evidencia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70332" y="1179576"/>
            <a:ext cx="85039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70332" y="1179576"/>
            <a:ext cx="5029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53212" y="1225296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de custodia documenta quién ha manejado la evidencia, cuándo y cómo.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212" y="163677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ruptura puede INVALIDAR la evidencia ante un tribunal.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" y="2455164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52044" y="2455164"/>
            <a:ext cx="157276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352044" y="24551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6052" y="290322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" y="325069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fuentes de evidencia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24812" y="3191256"/>
            <a:ext cx="1645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089404" y="2455164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089404" y="2455164"/>
            <a:ext cx="157276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2089404" y="24551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53412" y="290322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53412" y="325069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hash, fecha, responsable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62172" y="3191256"/>
            <a:ext cx="1645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826764" y="2455164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826764" y="2455164"/>
            <a:ext cx="157276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826764" y="24551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90772" y="290322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90772" y="325069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a solo lectura, no modificar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9532" y="3191256"/>
            <a:ext cx="1645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5564124" y="2455164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564124" y="2455164"/>
            <a:ext cx="157276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564124" y="24551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28132" y="290322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8132" y="325069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cada cambio de custodia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6892" y="3191256"/>
            <a:ext cx="1645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7301484" y="2455164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7301484" y="2455164"/>
            <a:ext cx="157276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7301484" y="24551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65492" y="290322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65492" y="325069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válido para el tribunal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IMPORTANTE: En forense, un script que altera los metadatos de la evidencia puede hacer que el caso sea inadmisible en juicio. Siempre trabajar sobre copias verificadas con hash.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El Hash como Sello de Integridad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Por qué calculamos el hash antes de tocar la evidencia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1.2 Cadena de custodia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320040" y="1390000"/>
            <a:ext cx="3900000" cy="1280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300" b="1" dirty="0">
                <a:solidFill>
                  <a:srgbClr val="0E7490"/>
                </a:solidFill>
                <a:latin typeface="Calibri" pitchFamily="34" charset="0"/>
              </a:rPr>
              <a:t>ANTES de analizar</a:t>
            </a:r>
            <a:endParaRPr lang="es-ES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</a:rPr>
              <a:t>sha256(foto.jpg)</a:t>
            </a:r>
            <a:endParaRPr lang="es-ES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66534"/>
                </a:solidFill>
                <a:latin typeface="Courier New" pitchFamily="34" charset="0"/>
              </a:rPr>
              <a:t>a3f5c8e2...d9b1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4310040" y="1890000"/>
            <a:ext cx="520000" cy="28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2000" b="1" dirty="0">
                <a:solidFill>
                  <a:srgbClr val="06B6D4"/>
                </a:solidFill>
                <a:latin typeface="Calibri" pitchFamily="34" charset="0"/>
              </a:rPr>
              <a:t>→→→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4924040" y="1390000"/>
            <a:ext cx="3900000" cy="1280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300" b="1" dirty="0">
                <a:solidFill>
                  <a:srgbClr val="0E7490"/>
                </a:solidFill>
                <a:latin typeface="Calibri" pitchFamily="34" charset="0"/>
              </a:rPr>
              <a:t>DESPUÉS de analizar</a:t>
            </a:r>
            <a:endParaRPr lang="es-ES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</a:rPr>
              <a:t>sha256(foto.jpg)</a:t>
            </a:r>
            <a:endParaRPr lang="es-ES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66534"/>
                </a:solidFill>
                <a:latin typeface="Courier New" pitchFamily="34" charset="0"/>
              </a:rPr>
              <a:t>a3f5c8e2...d9b1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320040" y="2780000"/>
            <a:ext cx="8503960" cy="55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166534"/>
                </a:solidFill>
                <a:latin typeface="Calibri" pitchFamily="34" charset="0"/>
              </a:rPr>
              <a:t>✓  Hash idéntico → evidencia íntegra. Cadena de custodia válida.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320040" y="3430000"/>
            <a:ext cx="8503960" cy="55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991B1B"/>
                </a:solidFill>
                <a:latin typeface="Calibri" pitchFamily="34" charset="0"/>
              </a:rPr>
              <a:t>✗  Hash diferente → evidencia comprometida. El caso puede perderse.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318060" y="4215268"/>
            <a:ext cx="8503960" cy="43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i="1" dirty="0">
                <a:solidFill>
                  <a:srgbClr val="64748B"/>
                </a:solidFill>
                <a:latin typeface="Calibri" pitchFamily="34" charset="0"/>
              </a:rPr>
              <a:t>📌  Registrar siempre: fecha, hora, operador, hash inicial y hash final en el informe pericial.</a:t>
            </a:r>
            <a:endParaRPr lang="es-E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Python en DFIR?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como lenguaje de referencia en forense digital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50292" cy="1463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&gt;_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Interpretado e inmediato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modifica y ejecuta al instante. Ideal para trabajo en campo donde el tiempo es crítico.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38988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00400" y="1389888"/>
            <a:ext cx="5029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9184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#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19842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la integridad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integradas para soportar investigación digital y preservar la evidencia.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38988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080760" y="1389888"/>
            <a:ext cx="50292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17220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{ }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19842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forense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Pillow, mutagen, python-registry, Volatility, dpkt… librerías especializadas para DFIR.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03580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20040" y="3035808"/>
            <a:ext cx="5029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114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OS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script corre en Windows, macOS y Linux. Evidencias de cualquier sistema.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303580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200400" y="3035808"/>
            <a:ext cx="5029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2918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&gt;&gt;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337560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que manualmente tomarían horas se resuelven en segundos con un script.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303580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080760" y="3035808"/>
            <a:ext cx="50292" cy="1463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17220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&lt; &gt;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17920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Legible y auditable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claro que puede ser revisado y validado por peritos y tribunales.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Desarrollo Forense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pasos para cualquier script de análisis — Learning Python for Forensics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483512"/>
            <a:ext cx="1572768" cy="227849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" y="1476006"/>
            <a:ext cx="1572768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0040" y="1476006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" y="214351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390405"/>
            <a:ext cx="1389888" cy="1239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necesito resolver?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evidencia busco?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92808" y="2116086"/>
            <a:ext cx="42062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993392" y="1476006"/>
            <a:ext cx="1572768" cy="22784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993392" y="1476006"/>
            <a:ext cx="157276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1993392" y="1476006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84248" y="2240280"/>
            <a:ext cx="1572768" cy="13990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2116086"/>
            <a:ext cx="42062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657600" y="1476006"/>
            <a:ext cx="1572768" cy="227849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657600" y="1476006"/>
            <a:ext cx="157276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657600" y="1476006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2182244"/>
            <a:ext cx="1389888" cy="14480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el código de forma incremental y documentada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30368" y="2116086"/>
            <a:ext cx="42062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321808" y="1476006"/>
            <a:ext cx="1572768" cy="228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5321808" y="1476006"/>
            <a:ext cx="157276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321808" y="1476006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13248" y="2195039"/>
            <a:ext cx="1389888" cy="1435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con datos controlados antes de usar en evidencias reales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94576" y="2116086"/>
            <a:ext cx="42062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6995160" y="1476006"/>
            <a:ext cx="1572768" cy="227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6995160" y="1476006"/>
            <a:ext cx="1572768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995160" y="1476006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04888" y="2239250"/>
            <a:ext cx="1389888" cy="1336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Corregir errores y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 la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es iterativo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20040" y="4572000"/>
            <a:ext cx="85496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57200" y="45720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En forense, la VALIDACION es critica. Un script que produce resultados incorrectos puede desviar una investigacion. Siempre probar con datasets conocidos antes de usarlo en evidencias reales.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87EE3-92CB-BC22-80A7-0DE9FB13E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0F4FAA-BA66-AFA3-D810-EF6B96F5DEE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721D64-57DE-45E9-BBDA-DE122C162C62}"/>
              </a:ext>
            </a:extLst>
          </p:cNvPr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 Datos y </a:t>
            </a:r>
            <a:r>
              <a:rPr lang="en-US" sz="22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2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Útiles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D1C4A9-546D-79E0-045A-509189F548F8}"/>
              </a:ext>
            </a:extLst>
          </p:cNvPr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como lenguaje de referencia en forense digital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D9F8BFF-29A9-B7A7-3AB9-69A92AC2BA73}"/>
              </a:ext>
            </a:extLst>
          </p:cNvPr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0CCD6FA-7DAB-1D52-F8EC-8F701FE946BD}"/>
              </a:ext>
            </a:extLst>
          </p:cNvPr>
          <p:cNvSpPr/>
          <p:nvPr/>
        </p:nvSpPr>
        <p:spPr>
          <a:xfrm>
            <a:off x="320040" y="138988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FF952D8-6637-C508-341C-DB308792EEA3}"/>
              </a:ext>
            </a:extLst>
          </p:cNvPr>
          <p:cNvSpPr/>
          <p:nvPr/>
        </p:nvSpPr>
        <p:spPr>
          <a:xfrm>
            <a:off x="320040" y="1389888"/>
            <a:ext cx="50292" cy="1463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E107424-463B-0A0B-C1AE-2F3B72F667E2}"/>
              </a:ext>
            </a:extLst>
          </p:cNvPr>
          <p:cNvSpPr/>
          <p:nvPr/>
        </p:nvSpPr>
        <p:spPr>
          <a:xfrm>
            <a:off x="41148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&gt;_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3019DB3-C7C3-D605-EBE1-C173E879B353}"/>
              </a:ext>
            </a:extLst>
          </p:cNvPr>
          <p:cNvSpPr/>
          <p:nvPr/>
        </p:nvSpPr>
        <p:spPr>
          <a:xfrm>
            <a:off x="662940" y="20617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2677376-D493-E6FB-D2BB-116B21A0EDFE}"/>
              </a:ext>
            </a:extLst>
          </p:cNvPr>
          <p:cNvSpPr/>
          <p:nvPr/>
        </p:nvSpPr>
        <p:spPr>
          <a:xfrm>
            <a:off x="3200400" y="138988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0B9F6E9-1EAC-7CDE-108E-2072FB524B01}"/>
              </a:ext>
            </a:extLst>
          </p:cNvPr>
          <p:cNvSpPr/>
          <p:nvPr/>
        </p:nvSpPr>
        <p:spPr>
          <a:xfrm>
            <a:off x="3200400" y="1389888"/>
            <a:ext cx="5029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6A2AE00-5EF3-2D0B-2FD8-AD16511460FF}"/>
              </a:ext>
            </a:extLst>
          </p:cNvPr>
          <p:cNvSpPr/>
          <p:nvPr/>
        </p:nvSpPr>
        <p:spPr>
          <a:xfrm>
            <a:off x="329184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#</a:t>
            </a: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84489C3-2A44-4A4D-8AB5-58F923EDDBCC}"/>
              </a:ext>
            </a:extLst>
          </p:cNvPr>
          <p:cNvSpPr/>
          <p:nvPr/>
        </p:nvSpPr>
        <p:spPr>
          <a:xfrm>
            <a:off x="3543300" y="205773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76B9A7A-EBFC-1388-FA24-8AF796C3C713}"/>
              </a:ext>
            </a:extLst>
          </p:cNvPr>
          <p:cNvSpPr/>
          <p:nvPr/>
        </p:nvSpPr>
        <p:spPr>
          <a:xfrm>
            <a:off x="6080760" y="138988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88399A9-C3B8-03B7-BB78-AA31B53F1742}"/>
              </a:ext>
            </a:extLst>
          </p:cNvPr>
          <p:cNvSpPr/>
          <p:nvPr/>
        </p:nvSpPr>
        <p:spPr>
          <a:xfrm>
            <a:off x="6080760" y="1389888"/>
            <a:ext cx="50292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ECAE2AA-778F-C84A-A774-6693F6FA0D52}"/>
              </a:ext>
            </a:extLst>
          </p:cNvPr>
          <p:cNvSpPr/>
          <p:nvPr/>
        </p:nvSpPr>
        <p:spPr>
          <a:xfrm>
            <a:off x="617220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{ }</a:t>
            </a:r>
            <a:endParaRPr lang="en-US" sz="2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E015EC2-5CB6-6403-8FEB-37A846B64C01}"/>
              </a:ext>
            </a:extLst>
          </p:cNvPr>
          <p:cNvSpPr/>
          <p:nvPr/>
        </p:nvSpPr>
        <p:spPr>
          <a:xfrm>
            <a:off x="6217920" y="205773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DICCIONARIOS</a:t>
            </a:r>
            <a:endParaRPr lang="en-US" sz="2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4B2B8B6-24DF-20F9-A43B-9BED32884CEF}"/>
              </a:ext>
            </a:extLst>
          </p:cNvPr>
          <p:cNvSpPr/>
          <p:nvPr/>
        </p:nvSpPr>
        <p:spPr>
          <a:xfrm>
            <a:off x="320040" y="303580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28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C1B355C-DCA2-39E3-8C3F-D489FA0164E6}"/>
              </a:ext>
            </a:extLst>
          </p:cNvPr>
          <p:cNvSpPr/>
          <p:nvPr/>
        </p:nvSpPr>
        <p:spPr>
          <a:xfrm>
            <a:off x="320040" y="3035808"/>
            <a:ext cx="5029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B6CEDB2-713B-ECAD-6FFE-4DD041D43702}"/>
              </a:ext>
            </a:extLst>
          </p:cNvPr>
          <p:cNvSpPr/>
          <p:nvPr/>
        </p:nvSpPr>
        <p:spPr>
          <a:xfrm>
            <a:off x="4114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OS</a:t>
            </a:r>
            <a:endParaRPr lang="en-US" sz="2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75717CF-E335-4C1E-B20B-A333BD818F88}"/>
              </a:ext>
            </a:extLst>
          </p:cNvPr>
          <p:cNvSpPr/>
          <p:nvPr/>
        </p:nvSpPr>
        <p:spPr>
          <a:xfrm>
            <a:off x="457200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os.listdir</a:t>
            </a: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() ; </a:t>
            </a:r>
            <a:r>
              <a:rPr lang="en-US" sz="20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os.walk</a:t>
            </a: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2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D8E2F9A-FB60-3DE1-B59C-72210C9260C3}"/>
              </a:ext>
            </a:extLst>
          </p:cNvPr>
          <p:cNvSpPr/>
          <p:nvPr/>
        </p:nvSpPr>
        <p:spPr>
          <a:xfrm>
            <a:off x="3200400" y="303580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D83DA1C-816D-104F-E8B7-E749163F5C5F}"/>
              </a:ext>
            </a:extLst>
          </p:cNvPr>
          <p:cNvSpPr/>
          <p:nvPr/>
        </p:nvSpPr>
        <p:spPr>
          <a:xfrm>
            <a:off x="3200400" y="3035808"/>
            <a:ext cx="5029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FB752F5-6C17-DD17-39F0-EDE02E98EADA}"/>
              </a:ext>
            </a:extLst>
          </p:cNvPr>
          <p:cNvSpPr/>
          <p:nvPr/>
        </p:nvSpPr>
        <p:spPr>
          <a:xfrm>
            <a:off x="32918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&gt;&gt;</a:t>
            </a:r>
            <a:endParaRPr lang="en-US" sz="2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1F9F154-06DB-23B3-FD99-A17BB261EF2F}"/>
              </a:ext>
            </a:extLst>
          </p:cNvPr>
          <p:cNvSpPr/>
          <p:nvPr/>
        </p:nvSpPr>
        <p:spPr>
          <a:xfrm>
            <a:off x="3337560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52899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Ecosistema de Librerías Python para DFIR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Las herramientas del investigador forense en Python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Box7"/>
          <p:cNvSpPr/>
          <p:nvPr/>
        </p:nvSpPr>
        <p:spPr>
          <a:xfrm>
            <a:off x="320040" y="1289304"/>
            <a:ext cx="1980000" cy="3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Librería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2400000" y="1289304"/>
            <a:ext cx="1980000" cy="3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Instalación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4480000" y="1289304"/>
            <a:ext cx="3020000" cy="3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Uso forense principal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7600000" y="1289304"/>
            <a:ext cx="1200000" cy="3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Esta jornada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320040" y="1679304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06B6D4"/>
                </a:solidFill>
                <a:latin typeface="Courier New" pitchFamily="34" charset="0"/>
              </a:rPr>
              <a:t>hashlib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2400000" y="1679304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stdlib</a:t>
            </a:r>
            <a:endParaRPr lang="es-ES" dirty="0"/>
          </a:p>
        </p:txBody>
      </p:sp>
      <p:sp>
        <p:nvSpPr>
          <p:cNvPr id="13" name="Box13"/>
          <p:cNvSpPr/>
          <p:nvPr/>
        </p:nvSpPr>
        <p:spPr>
          <a:xfrm>
            <a:off x="4480000" y="1679304"/>
            <a:ext cx="302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Hashes MD5 / SHA-256</a:t>
            </a:r>
            <a:endParaRPr lang="es-ES" dirty="0"/>
          </a:p>
        </p:txBody>
      </p:sp>
      <p:sp>
        <p:nvSpPr>
          <p:cNvPr id="14" name="Box14"/>
          <p:cNvSpPr/>
          <p:nvPr/>
        </p:nvSpPr>
        <p:spPr>
          <a:xfrm>
            <a:off x="7600000" y="1679304"/>
            <a:ext cx="120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✓</a:t>
            </a:r>
            <a:endParaRPr lang="es-ES" dirty="0"/>
          </a:p>
        </p:txBody>
      </p:sp>
      <p:sp>
        <p:nvSpPr>
          <p:cNvPr id="15" name="Box15"/>
          <p:cNvSpPr/>
          <p:nvPr/>
        </p:nvSpPr>
        <p:spPr>
          <a:xfrm>
            <a:off x="320040" y="2049304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0891B5"/>
                </a:solidFill>
                <a:latin typeface="Courier New" pitchFamily="34" charset="0"/>
              </a:rPr>
              <a:t>os / pathlib</a:t>
            </a:r>
            <a:endParaRPr lang="es-ES" dirty="0"/>
          </a:p>
        </p:txBody>
      </p:sp>
      <p:sp>
        <p:nvSpPr>
          <p:cNvPr id="16" name="Box16"/>
          <p:cNvSpPr/>
          <p:nvPr/>
        </p:nvSpPr>
        <p:spPr>
          <a:xfrm>
            <a:off x="2400000" y="2049304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stdlib</a:t>
            </a:r>
            <a:endParaRPr lang="es-ES" dirty="0"/>
          </a:p>
        </p:txBody>
      </p:sp>
      <p:sp>
        <p:nvSpPr>
          <p:cNvPr id="17" name="Box17"/>
          <p:cNvSpPr/>
          <p:nvPr/>
        </p:nvSpPr>
        <p:spPr>
          <a:xfrm>
            <a:off x="4480000" y="2049304"/>
            <a:ext cx="302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Sistema de archivos, metadatos</a:t>
            </a:r>
            <a:endParaRPr lang="es-ES" dirty="0"/>
          </a:p>
        </p:txBody>
      </p:sp>
      <p:sp>
        <p:nvSpPr>
          <p:cNvPr id="18" name="Box18"/>
          <p:cNvSpPr/>
          <p:nvPr/>
        </p:nvSpPr>
        <p:spPr>
          <a:xfrm>
            <a:off x="7600000" y="2049304"/>
            <a:ext cx="120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✓</a:t>
            </a:r>
            <a:endParaRPr lang="es-ES" dirty="0"/>
          </a:p>
        </p:txBody>
      </p:sp>
      <p:sp>
        <p:nvSpPr>
          <p:cNvPr id="19" name="Box19"/>
          <p:cNvSpPr/>
          <p:nvPr/>
        </p:nvSpPr>
        <p:spPr>
          <a:xfrm>
            <a:off x="320040" y="2419304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0E7490"/>
                </a:solidFill>
                <a:latin typeface="Courier New" pitchFamily="34" charset="0"/>
              </a:rPr>
              <a:t>re / Counter</a:t>
            </a:r>
            <a:endParaRPr lang="es-ES" dirty="0"/>
          </a:p>
        </p:txBody>
      </p:sp>
      <p:sp>
        <p:nvSpPr>
          <p:cNvPr id="20" name="Box20"/>
          <p:cNvSpPr/>
          <p:nvPr/>
        </p:nvSpPr>
        <p:spPr>
          <a:xfrm>
            <a:off x="2400000" y="2419304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stdlib</a:t>
            </a:r>
            <a:endParaRPr lang="es-ES" dirty="0"/>
          </a:p>
        </p:txBody>
      </p:sp>
      <p:sp>
        <p:nvSpPr>
          <p:cNvPr id="21" name="Box21"/>
          <p:cNvSpPr/>
          <p:nvPr/>
        </p:nvSpPr>
        <p:spPr>
          <a:xfrm>
            <a:off x="4480000" y="2419304"/>
            <a:ext cx="302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Regex, análisis de logs</a:t>
            </a:r>
            <a:endParaRPr lang="es-ES" dirty="0"/>
          </a:p>
        </p:txBody>
      </p:sp>
      <p:sp>
        <p:nvSpPr>
          <p:cNvPr id="22" name="Box22"/>
          <p:cNvSpPr/>
          <p:nvPr/>
        </p:nvSpPr>
        <p:spPr>
          <a:xfrm>
            <a:off x="7600000" y="2419304"/>
            <a:ext cx="120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✓</a:t>
            </a:r>
            <a:endParaRPr lang="es-ES" dirty="0"/>
          </a:p>
        </p:txBody>
      </p:sp>
      <p:sp>
        <p:nvSpPr>
          <p:cNvPr id="23" name="Box23"/>
          <p:cNvSpPr/>
          <p:nvPr/>
        </p:nvSpPr>
        <p:spPr>
          <a:xfrm>
            <a:off x="320040" y="2789304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06B6D4"/>
                </a:solidFill>
                <a:latin typeface="Courier New" pitchFamily="34" charset="0"/>
              </a:rPr>
              <a:t>Pillow (PIL)</a:t>
            </a:r>
            <a:endParaRPr lang="es-ES" dirty="0"/>
          </a:p>
        </p:txBody>
      </p:sp>
      <p:sp>
        <p:nvSpPr>
          <p:cNvPr id="24" name="Box24"/>
          <p:cNvSpPr/>
          <p:nvPr/>
        </p:nvSpPr>
        <p:spPr>
          <a:xfrm>
            <a:off x="2400000" y="2789304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pip install</a:t>
            </a:r>
            <a:endParaRPr lang="es-ES" dirty="0"/>
          </a:p>
        </p:txBody>
      </p:sp>
      <p:sp>
        <p:nvSpPr>
          <p:cNvPr id="25" name="Box25"/>
          <p:cNvSpPr/>
          <p:nvPr/>
        </p:nvSpPr>
        <p:spPr>
          <a:xfrm>
            <a:off x="4480000" y="2789304"/>
            <a:ext cx="302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Metadatos EXIF e imágenes</a:t>
            </a:r>
            <a:endParaRPr lang="es-ES" dirty="0"/>
          </a:p>
        </p:txBody>
      </p:sp>
      <p:sp>
        <p:nvSpPr>
          <p:cNvPr id="26" name="Box26"/>
          <p:cNvSpPr/>
          <p:nvPr/>
        </p:nvSpPr>
        <p:spPr>
          <a:xfrm>
            <a:off x="7600000" y="2789304"/>
            <a:ext cx="120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✓</a:t>
            </a:r>
            <a:endParaRPr lang="es-ES" dirty="0"/>
          </a:p>
        </p:txBody>
      </p:sp>
      <p:sp>
        <p:nvSpPr>
          <p:cNvPr id="27" name="Box27"/>
          <p:cNvSpPr/>
          <p:nvPr/>
        </p:nvSpPr>
        <p:spPr>
          <a:xfrm>
            <a:off x="320040" y="3159304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0891B5"/>
                </a:solidFill>
                <a:latin typeface="Courier New" pitchFamily="34" charset="0"/>
              </a:rPr>
              <a:t>python-registry</a:t>
            </a:r>
            <a:endParaRPr lang="es-ES" dirty="0"/>
          </a:p>
        </p:txBody>
      </p:sp>
      <p:sp>
        <p:nvSpPr>
          <p:cNvPr id="28" name="Box28"/>
          <p:cNvSpPr/>
          <p:nvPr/>
        </p:nvSpPr>
        <p:spPr>
          <a:xfrm>
            <a:off x="2400000" y="3159304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pip install</a:t>
            </a:r>
            <a:endParaRPr lang="es-ES" dirty="0"/>
          </a:p>
        </p:txBody>
      </p:sp>
      <p:sp>
        <p:nvSpPr>
          <p:cNvPr id="29" name="Box29"/>
          <p:cNvSpPr/>
          <p:nvPr/>
        </p:nvSpPr>
        <p:spPr>
          <a:xfrm>
            <a:off x="4480000" y="3159304"/>
            <a:ext cx="302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Registro de Windows</a:t>
            </a:r>
            <a:endParaRPr lang="es-ES" dirty="0"/>
          </a:p>
        </p:txBody>
      </p:sp>
      <p:sp>
        <p:nvSpPr>
          <p:cNvPr id="30" name="Box30"/>
          <p:cNvSpPr/>
          <p:nvPr/>
        </p:nvSpPr>
        <p:spPr>
          <a:xfrm>
            <a:off x="7600000" y="3159304"/>
            <a:ext cx="120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endParaRPr lang="es-ES" dirty="0"/>
          </a:p>
        </p:txBody>
      </p:sp>
      <p:sp>
        <p:nvSpPr>
          <p:cNvPr id="31" name="Box31"/>
          <p:cNvSpPr/>
          <p:nvPr/>
        </p:nvSpPr>
        <p:spPr>
          <a:xfrm>
            <a:off x="320040" y="3529304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0E7490"/>
                </a:solidFill>
                <a:latin typeface="Courier New" pitchFamily="34" charset="0"/>
              </a:rPr>
              <a:t>psutil</a:t>
            </a:r>
            <a:endParaRPr lang="es-ES" dirty="0"/>
          </a:p>
        </p:txBody>
      </p:sp>
      <p:sp>
        <p:nvSpPr>
          <p:cNvPr id="32" name="Box32"/>
          <p:cNvSpPr/>
          <p:nvPr/>
        </p:nvSpPr>
        <p:spPr>
          <a:xfrm>
            <a:off x="2400000" y="3529304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pip install</a:t>
            </a:r>
            <a:endParaRPr lang="es-ES" dirty="0"/>
          </a:p>
        </p:txBody>
      </p:sp>
      <p:sp>
        <p:nvSpPr>
          <p:cNvPr id="33" name="Box33"/>
          <p:cNvSpPr/>
          <p:nvPr/>
        </p:nvSpPr>
        <p:spPr>
          <a:xfrm>
            <a:off x="4480000" y="3529304"/>
            <a:ext cx="302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Triage de procesos en vivo</a:t>
            </a:r>
            <a:endParaRPr lang="es-ES" dirty="0"/>
          </a:p>
        </p:txBody>
      </p:sp>
      <p:sp>
        <p:nvSpPr>
          <p:cNvPr id="34" name="Box34"/>
          <p:cNvSpPr/>
          <p:nvPr/>
        </p:nvSpPr>
        <p:spPr>
          <a:xfrm>
            <a:off x="7600000" y="3529304"/>
            <a:ext cx="120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endParaRPr lang="es-ES" dirty="0"/>
          </a:p>
        </p:txBody>
      </p:sp>
      <p:sp>
        <p:nvSpPr>
          <p:cNvPr id="35" name="Box35"/>
          <p:cNvSpPr/>
          <p:nvPr/>
        </p:nvSpPr>
        <p:spPr>
          <a:xfrm>
            <a:off x="320040" y="3899304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06B6D4"/>
                </a:solidFill>
                <a:latin typeface="Courier New" pitchFamily="34" charset="0"/>
              </a:rPr>
              <a:t>mutagen</a:t>
            </a:r>
            <a:endParaRPr lang="es-ES" dirty="0"/>
          </a:p>
        </p:txBody>
      </p:sp>
      <p:sp>
        <p:nvSpPr>
          <p:cNvPr id="36" name="Box36"/>
          <p:cNvSpPr/>
          <p:nvPr/>
        </p:nvSpPr>
        <p:spPr>
          <a:xfrm>
            <a:off x="2400000" y="3899304"/>
            <a:ext cx="198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pip install</a:t>
            </a:r>
            <a:endParaRPr lang="es-ES" dirty="0"/>
          </a:p>
        </p:txBody>
      </p:sp>
      <p:sp>
        <p:nvSpPr>
          <p:cNvPr id="37" name="Box37"/>
          <p:cNvSpPr/>
          <p:nvPr/>
        </p:nvSpPr>
        <p:spPr>
          <a:xfrm>
            <a:off x="4480000" y="3899304"/>
            <a:ext cx="302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Metadatos ID3 (audio)</a:t>
            </a:r>
            <a:endParaRPr lang="es-ES" dirty="0"/>
          </a:p>
        </p:txBody>
      </p:sp>
      <p:sp>
        <p:nvSpPr>
          <p:cNvPr id="38" name="Box38"/>
          <p:cNvSpPr/>
          <p:nvPr/>
        </p:nvSpPr>
        <p:spPr>
          <a:xfrm>
            <a:off x="7600000" y="3899304"/>
            <a:ext cx="1200000" cy="3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endParaRPr lang="es-ES" dirty="0"/>
          </a:p>
        </p:txBody>
      </p:sp>
      <p:sp>
        <p:nvSpPr>
          <p:cNvPr id="39" name="Box39"/>
          <p:cNvSpPr/>
          <p:nvPr/>
        </p:nvSpPr>
        <p:spPr>
          <a:xfrm>
            <a:off x="320040" y="4269304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0891B5"/>
                </a:solidFill>
                <a:latin typeface="Courier New" pitchFamily="34" charset="0"/>
              </a:rPr>
              <a:t>xlsxwriter</a:t>
            </a:r>
            <a:endParaRPr lang="es-ES" dirty="0"/>
          </a:p>
        </p:txBody>
      </p:sp>
      <p:sp>
        <p:nvSpPr>
          <p:cNvPr id="40" name="Box40"/>
          <p:cNvSpPr/>
          <p:nvPr/>
        </p:nvSpPr>
        <p:spPr>
          <a:xfrm>
            <a:off x="2400000" y="4269304"/>
            <a:ext cx="198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pip install</a:t>
            </a:r>
            <a:endParaRPr lang="es-ES" dirty="0"/>
          </a:p>
        </p:txBody>
      </p:sp>
      <p:sp>
        <p:nvSpPr>
          <p:cNvPr id="41" name="Box41"/>
          <p:cNvSpPr/>
          <p:nvPr/>
        </p:nvSpPr>
        <p:spPr>
          <a:xfrm>
            <a:off x="4480000" y="4269304"/>
            <a:ext cx="302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Informes Excel con gráficas</a:t>
            </a:r>
            <a:endParaRPr lang="es-ES" dirty="0"/>
          </a:p>
        </p:txBody>
      </p:sp>
      <p:sp>
        <p:nvSpPr>
          <p:cNvPr id="42" name="Box42"/>
          <p:cNvSpPr/>
          <p:nvPr/>
        </p:nvSpPr>
        <p:spPr>
          <a:xfrm>
            <a:off x="7600000" y="4269304"/>
            <a:ext cx="1200000" cy="3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03971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Orientado a Forense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 de código + Módulo os para sistemas de archivos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2062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 de nombrado forense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42062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39319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Autor:     Sergio García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Versión:   1.0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Fecha:     2026-04-09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Propósito: Inventario forense USB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"1.0"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  = "Sergio García"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inventariar_usb(ruta, salida):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"""Inventaria archivos en ruta forense."""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pass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0958" y="374446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Documentar autor, versión y propósito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Funciones con docstring claro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Variables descriptivas en español/inglés consistente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40690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754880" y="13258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os.walk() — Recorrido de directorios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40690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7947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 = "/evidencias/usb"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raiz, dirs, archivos in os.walk(ruta):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archivo in archivos: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ruta_completa = os.path.join(raiz, archivo)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stat = os.stat(ruta_completa)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tamanio = stat.st_size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mtime   = stat.st_mtime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3611879"/>
            <a:ext cx="4069080" cy="818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os.walk() recorre árboles completos con una sola llamada, independientemente de la profundidad. Imprescindible para inventariar evidencias.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os.walk() — Exploración Recursiva del Sistema de Archivos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La función clave para inventariar cualquier directorio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5200000" cy="34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os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os.walk() devuelve tuplas: (raiz, subcarpetas, archivos)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for raiz, subcarpetas, archivos in os.walk('/evidencias_usb'):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for nombre in archivos: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ruta = os.path.join(raiz, nombre)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stat = os.stat(ruta)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print(f'{ruta}  |  {stat.st_size} bytes')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Resultado de os.stat() más útil en forense: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  stat.st_size   → tamaño en bytes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  stat.st_mtime  → fecha de modificación (timestamp UNIX)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  stat.st_ctime  → fecha de creación (en Windows) / cambio de inode (Linux)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5660040" y="1420000"/>
            <a:ext cx="316396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¿Qué devuelve?</a:t>
            </a:r>
            <a:endParaRPr lang="es-ES" dirty="0"/>
          </a:p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raiz: carpeta actual</a:t>
            </a:r>
            <a:endParaRPr lang="es-ES" dirty="0"/>
          </a:p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subcarpetas: lista dirs</a:t>
            </a:r>
            <a:endParaRPr lang="es-ES" dirty="0"/>
          </a:p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archivos: lista de ficheros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5660040" y="2690000"/>
            <a:ext cx="3163960" cy="105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Ventaja forense</a:t>
            </a:r>
            <a:endParaRPr lang="es-ES" dirty="0"/>
          </a:p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Recorre TODO el árbol en una sola llamada, sin importar la profundidad.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5660000" y="3960000"/>
            <a:ext cx="3163960" cy="860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Incluye archivos ocultos</a:t>
            </a:r>
            <a:endParaRPr lang="es-ES" dirty="0"/>
          </a:p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Los archivos que comienzan por '.' también aparecen (crítico en macOS/Linux).</a:t>
            </a:r>
            <a:endParaRPr lang="es-E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Búsqueda de Palabras Clave en Evidencias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Ejercicio Tutorialspoint — find() e index() en análisis forense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420000"/>
            <a:ext cx="8503960" cy="34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Buscar una cadena en un mensaje o evidencia textual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mensaje = 'This is a string example for Computational forensics'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keyword  = 'forensics'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find() devuelve la posición, -1 si no encuentra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pos = mensaje.find(keyword)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print(f'Keyword en posición: {pos}')   # → 42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Buscar desde una posición concreta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print(mensaje.find(keyword, 10))   # → 42  (encontrada)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print(mensaje.find(keyword, 60))   # → -1  (no encontrada)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index() lanza ValueError si no encuentra (útil con try/except)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linea_log = '2024-03-15 08:17:01 WARN  [net]  Conexión saliente a 185.220.101.45:443'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try: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pos = linea_log.index('185.220.101.45')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print(f'IP sospechosa en posición: {pos}')   # → 53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except ValueError: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print('IP no encontrada')</a:t>
            </a:r>
            <a:endParaRPr lang="es-E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0289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Forense de Archivos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9042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inventario_forense.py  ·  55 minutos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10467"/>
            <a:ext cx="4023360" cy="283529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1662919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33889"/>
            <a:ext cx="3749040" cy="2179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una carpeta que representa el contenido de un USB sospechoso y debes generar un inventario completo de todos los archivos, incluyendo sus metadatos, para un informe pericial.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510466"/>
            <a:ext cx="4297680" cy="283529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663440" y="1662919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script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033889"/>
            <a:ext cx="4023360" cy="2179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Recorrer recursivamente un directorio dado 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Extraer: nombre, extensión, tamaño, fecha mod., 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completa.</a:t>
            </a:r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resultados en inventario.csv</a:t>
            </a:r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Mostrar resumen por pantalla al 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Ampliación: filtro por extensión (sys.argv[2]) · detección MIME real con módulo mimetypes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Crear el Dataset de Prueba — USB Simulado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Ejecutar este código antes de comenzar el ejercicio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119120"/>
            <a:ext cx="8503960" cy="3800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Ejecutar en Python para crear la estructura de evidencias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import </a:t>
            </a:r>
            <a:r>
              <a:rPr lang="en-US" sz="900" dirty="0" err="1">
                <a:solidFill>
                  <a:srgbClr val="E2E8F0"/>
                </a:solidFill>
                <a:latin typeface="Courier New" pitchFamily="34" charset="0"/>
              </a:rPr>
              <a:t>os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carpetas = [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'evidencias_usb/documentos',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'evidencias_usb/imagenes',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'evidencias_usb/logs',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]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archivos = [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('evidencias_usb/documentos/contrato.docx', 'Datos confidenciales del contrato'),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('evidencias_usb/documentos/notas.txt',     'Notas personales sospechosas'),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('evidencias_usb/imagenes/foto1.jpg',       ''),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('evidencias_usb/imagenes/captura.png',     ''),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('evidencias_usb/logs/sistema.log',         '2024-03-15 08:17:01 WARN Conexion'),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]</a:t>
            </a:r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for c in carpetas: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os.makedirs(c, exist_ok=True)</a:t>
            </a:r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for ruta, contenido in archivos: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with open(ruta, 'w') as f: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f.write(</a:t>
            </a:r>
            <a:r>
              <a:rPr lang="en-US" sz="900" dirty="0" err="1">
                <a:solidFill>
                  <a:srgbClr val="E2E8F0"/>
                </a:solidFill>
                <a:latin typeface="Courier New" pitchFamily="34" charset="0"/>
              </a:rPr>
              <a:t>contenido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)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print('[+] Dataset creado en evidencias_usb/')</a:t>
            </a:r>
            <a:endParaRPr lang="es-E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inventario_forense.py — Función obtener_metadatos()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Paso 1: extraer nombre, extensión, tamaño, fecha y ruta de cada archivo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105472"/>
            <a:ext cx="8503960" cy="38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os, csv, datetime, sys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obtener_metadatos(ruta_archivo):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'''Extrae metadatos de un archivo y los devuelve como diccionario.'''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info      = os.stat(ruta_archivo)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nombre    = os.path.basename(ruta_archivo)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extension = os.path.splitext(nombre)[1].lower()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fecha_mod = datetime.datetime.fromtimestamp(info.st_mtime)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{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'nombre':            nombre,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'extension':         extension,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'tamano_bytes':      info.st_size,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'fecha_modificacion': fecha_mod.strftime('%Y-%m-%d %H:%M:%S'),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'ruta_completa':     ruta_archivo,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}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Prueba rápida: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datos = obtener_metadatos('evidencias_usb/documentos/contrato.docx')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for campo, valor in datos.items():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print(f'{campo:25s}: {valor}')</a:t>
            </a:r>
            <a:endParaRPr lang="es-E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inventario_forense.py — inventariar_directorio() y main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Paso 2: recorrer con os.walk y exportar a CSV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173709"/>
            <a:ext cx="8503960" cy="374629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CAMPOS = ['nombre','extension','tamano_bytes','fecha_modificacion','ruta_completa']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inventariar_directorio(directorio, csv_salida):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total_archivos = 0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total_bytes    = 0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with open(csv_salida, 'w', newline='', encoding='utf-8') as f: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writer = csv.DictWriter(f, fieldnames=CAMPOS)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writer.writeheader()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for carpeta, _, archivos in os.walk(directorio):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for archivo in archivos: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    ruta  = os.path.join(carpeta, archivo)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    datos = obtener_metadatos(ruta)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    writer.writerow(datos)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    total_archivos += 1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    total_bytes    += datos['tamano_bytes']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total_archivos, total_bytes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if __name__ == '__main__':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directorio = sys.argv[1] if len(sys.argv) &gt; 1 else 'evidencias_usb'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total, bytes_ = inventariar_directorio(directorio, 'inventario.csv')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print(f'[+] Archivos: {total}  |  Tamaño total: {bytes_:,} bytes')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print('[+] Resultado guardado en inventario.csv')</a:t>
            </a:r>
            <a:endParaRPr lang="es-E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Resultado Esperado — inventario.csv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Cada fila es un archivo del USB; cada columna es un metadato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Box7"/>
          <p:cNvSpPr/>
          <p:nvPr/>
        </p:nvSpPr>
        <p:spPr>
          <a:xfrm>
            <a:off x="228600" y="1420000"/>
            <a:ext cx="1700000" cy="3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FFFFFF"/>
                </a:solidFill>
                <a:latin typeface="Courier New" pitchFamily="34" charset="0"/>
              </a:rPr>
              <a:t>nombre</a:t>
            </a:r>
            <a:endParaRPr lang="es-ES" sz="1200" dirty="0"/>
          </a:p>
        </p:txBody>
      </p:sp>
      <p:sp>
        <p:nvSpPr>
          <p:cNvPr id="8" name="Box8"/>
          <p:cNvSpPr/>
          <p:nvPr/>
        </p:nvSpPr>
        <p:spPr>
          <a:xfrm>
            <a:off x="1958600" y="1420000"/>
            <a:ext cx="950000" cy="3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FFFFFF"/>
                </a:solidFill>
                <a:latin typeface="Courier New" pitchFamily="34" charset="0"/>
              </a:rPr>
              <a:t>extension</a:t>
            </a:r>
            <a:endParaRPr lang="es-ES" sz="1200" dirty="0"/>
          </a:p>
        </p:txBody>
      </p:sp>
      <p:sp>
        <p:nvSpPr>
          <p:cNvPr id="9" name="Box9"/>
          <p:cNvSpPr/>
          <p:nvPr/>
        </p:nvSpPr>
        <p:spPr>
          <a:xfrm>
            <a:off x="2938600" y="1420000"/>
            <a:ext cx="1100000" cy="3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FFFFFF"/>
                </a:solidFill>
                <a:latin typeface="Courier New" pitchFamily="34" charset="0"/>
              </a:rPr>
              <a:t>tamano_bytes</a:t>
            </a:r>
            <a:endParaRPr lang="es-ES" sz="1200" dirty="0"/>
          </a:p>
        </p:txBody>
      </p:sp>
      <p:sp>
        <p:nvSpPr>
          <p:cNvPr id="10" name="Box10"/>
          <p:cNvSpPr/>
          <p:nvPr/>
        </p:nvSpPr>
        <p:spPr>
          <a:xfrm>
            <a:off x="4068600" y="1420000"/>
            <a:ext cx="1600000" cy="3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FFFFFF"/>
                </a:solidFill>
                <a:latin typeface="Courier New" pitchFamily="34" charset="0"/>
              </a:rPr>
              <a:t>fecha_modificacion</a:t>
            </a:r>
            <a:endParaRPr lang="es-ES" sz="1200" dirty="0"/>
          </a:p>
        </p:txBody>
      </p:sp>
      <p:sp>
        <p:nvSpPr>
          <p:cNvPr id="11" name="Box11"/>
          <p:cNvSpPr/>
          <p:nvPr/>
        </p:nvSpPr>
        <p:spPr>
          <a:xfrm>
            <a:off x="5698600" y="1420000"/>
            <a:ext cx="3000000" cy="3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FFFFFF"/>
                </a:solidFill>
                <a:latin typeface="Courier New" pitchFamily="34" charset="0"/>
              </a:rPr>
              <a:t>ruta_completa</a:t>
            </a:r>
            <a:endParaRPr lang="es-ES" sz="1200" dirty="0"/>
          </a:p>
        </p:txBody>
      </p:sp>
      <p:sp>
        <p:nvSpPr>
          <p:cNvPr id="12" name="Box12"/>
          <p:cNvSpPr/>
          <p:nvPr/>
        </p:nvSpPr>
        <p:spPr>
          <a:xfrm>
            <a:off x="228600" y="1790000"/>
            <a:ext cx="17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contrato.docx</a:t>
            </a:r>
            <a:endParaRPr lang="es-ES" sz="1200" dirty="0"/>
          </a:p>
        </p:txBody>
      </p:sp>
      <p:sp>
        <p:nvSpPr>
          <p:cNvPr id="13" name="Box13"/>
          <p:cNvSpPr/>
          <p:nvPr/>
        </p:nvSpPr>
        <p:spPr>
          <a:xfrm>
            <a:off x="1958600" y="1790000"/>
            <a:ext cx="95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.docx</a:t>
            </a:r>
            <a:endParaRPr lang="es-ES" sz="1200" dirty="0"/>
          </a:p>
        </p:txBody>
      </p:sp>
      <p:sp>
        <p:nvSpPr>
          <p:cNvPr id="14" name="Box14"/>
          <p:cNvSpPr/>
          <p:nvPr/>
        </p:nvSpPr>
        <p:spPr>
          <a:xfrm>
            <a:off x="2938600" y="1790000"/>
            <a:ext cx="11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28</a:t>
            </a:r>
            <a:endParaRPr lang="es-ES" sz="1200" dirty="0"/>
          </a:p>
        </p:txBody>
      </p:sp>
      <p:sp>
        <p:nvSpPr>
          <p:cNvPr id="15" name="Box15"/>
          <p:cNvSpPr/>
          <p:nvPr/>
        </p:nvSpPr>
        <p:spPr>
          <a:xfrm>
            <a:off x="4068600" y="1790000"/>
            <a:ext cx="16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2024-03-15 08:15</a:t>
            </a:r>
            <a:endParaRPr lang="es-ES" sz="1200" dirty="0"/>
          </a:p>
        </p:txBody>
      </p:sp>
      <p:sp>
        <p:nvSpPr>
          <p:cNvPr id="16" name="Box16"/>
          <p:cNvSpPr/>
          <p:nvPr/>
        </p:nvSpPr>
        <p:spPr>
          <a:xfrm>
            <a:off x="5698600" y="1790000"/>
            <a:ext cx="30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evidencias_usb/documentos/...</a:t>
            </a:r>
            <a:endParaRPr lang="es-ES" sz="1200" dirty="0"/>
          </a:p>
        </p:txBody>
      </p:sp>
      <p:sp>
        <p:nvSpPr>
          <p:cNvPr id="17" name="Box17"/>
          <p:cNvSpPr/>
          <p:nvPr/>
        </p:nvSpPr>
        <p:spPr>
          <a:xfrm>
            <a:off x="228600" y="2160000"/>
            <a:ext cx="17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notas.txt</a:t>
            </a:r>
            <a:endParaRPr lang="es-ES" sz="1200" dirty="0"/>
          </a:p>
        </p:txBody>
      </p:sp>
      <p:sp>
        <p:nvSpPr>
          <p:cNvPr id="18" name="Box18"/>
          <p:cNvSpPr/>
          <p:nvPr/>
        </p:nvSpPr>
        <p:spPr>
          <a:xfrm>
            <a:off x="1958600" y="2160000"/>
            <a:ext cx="95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.txt</a:t>
            </a:r>
            <a:endParaRPr lang="es-ES" sz="1200" dirty="0"/>
          </a:p>
        </p:txBody>
      </p:sp>
      <p:sp>
        <p:nvSpPr>
          <p:cNvPr id="19" name="Box19"/>
          <p:cNvSpPr/>
          <p:nvPr/>
        </p:nvSpPr>
        <p:spPr>
          <a:xfrm>
            <a:off x="2938600" y="2160000"/>
            <a:ext cx="11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35</a:t>
            </a:r>
            <a:endParaRPr lang="es-ES" sz="1200" dirty="0"/>
          </a:p>
        </p:txBody>
      </p:sp>
      <p:sp>
        <p:nvSpPr>
          <p:cNvPr id="20" name="Box20"/>
          <p:cNvSpPr/>
          <p:nvPr/>
        </p:nvSpPr>
        <p:spPr>
          <a:xfrm>
            <a:off x="4068600" y="2160000"/>
            <a:ext cx="16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2024-03-15 08:16</a:t>
            </a:r>
            <a:endParaRPr lang="es-ES" sz="1200" dirty="0"/>
          </a:p>
        </p:txBody>
      </p:sp>
      <p:sp>
        <p:nvSpPr>
          <p:cNvPr id="21" name="Box21"/>
          <p:cNvSpPr/>
          <p:nvPr/>
        </p:nvSpPr>
        <p:spPr>
          <a:xfrm>
            <a:off x="5698600" y="2160000"/>
            <a:ext cx="30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evidencias_usb/documentos/...</a:t>
            </a:r>
            <a:endParaRPr lang="es-ES" sz="1200" dirty="0"/>
          </a:p>
        </p:txBody>
      </p:sp>
      <p:sp>
        <p:nvSpPr>
          <p:cNvPr id="22" name="Box22"/>
          <p:cNvSpPr/>
          <p:nvPr/>
        </p:nvSpPr>
        <p:spPr>
          <a:xfrm>
            <a:off x="228600" y="2530000"/>
            <a:ext cx="17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foto1.jpg</a:t>
            </a:r>
            <a:endParaRPr lang="es-ES" sz="1200" dirty="0"/>
          </a:p>
        </p:txBody>
      </p:sp>
      <p:sp>
        <p:nvSpPr>
          <p:cNvPr id="23" name="Box23"/>
          <p:cNvSpPr/>
          <p:nvPr/>
        </p:nvSpPr>
        <p:spPr>
          <a:xfrm>
            <a:off x="1958600" y="2530000"/>
            <a:ext cx="95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.jpg</a:t>
            </a:r>
            <a:endParaRPr lang="es-ES" sz="1200" dirty="0"/>
          </a:p>
        </p:txBody>
      </p:sp>
      <p:sp>
        <p:nvSpPr>
          <p:cNvPr id="24" name="Box24"/>
          <p:cNvSpPr/>
          <p:nvPr/>
        </p:nvSpPr>
        <p:spPr>
          <a:xfrm>
            <a:off x="2938600" y="2530000"/>
            <a:ext cx="11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0</a:t>
            </a:r>
            <a:endParaRPr lang="es-ES" sz="1200" dirty="0"/>
          </a:p>
        </p:txBody>
      </p:sp>
      <p:sp>
        <p:nvSpPr>
          <p:cNvPr id="25" name="Box25"/>
          <p:cNvSpPr/>
          <p:nvPr/>
        </p:nvSpPr>
        <p:spPr>
          <a:xfrm>
            <a:off x="4068600" y="2530000"/>
            <a:ext cx="16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2024-03-15 08:20</a:t>
            </a:r>
            <a:endParaRPr lang="es-ES" sz="1200" dirty="0"/>
          </a:p>
        </p:txBody>
      </p:sp>
      <p:sp>
        <p:nvSpPr>
          <p:cNvPr id="26" name="Box26"/>
          <p:cNvSpPr/>
          <p:nvPr/>
        </p:nvSpPr>
        <p:spPr>
          <a:xfrm>
            <a:off x="5698600" y="2530000"/>
            <a:ext cx="30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evidencias_usb/imagenes/...</a:t>
            </a:r>
            <a:endParaRPr lang="es-ES" sz="1200" dirty="0"/>
          </a:p>
        </p:txBody>
      </p:sp>
      <p:sp>
        <p:nvSpPr>
          <p:cNvPr id="27" name="Box27"/>
          <p:cNvSpPr/>
          <p:nvPr/>
        </p:nvSpPr>
        <p:spPr>
          <a:xfrm>
            <a:off x="228600" y="2900000"/>
            <a:ext cx="17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captura.png</a:t>
            </a:r>
            <a:endParaRPr lang="es-ES" sz="1200" dirty="0"/>
          </a:p>
        </p:txBody>
      </p:sp>
      <p:sp>
        <p:nvSpPr>
          <p:cNvPr id="28" name="Box28"/>
          <p:cNvSpPr/>
          <p:nvPr/>
        </p:nvSpPr>
        <p:spPr>
          <a:xfrm>
            <a:off x="1958600" y="2900000"/>
            <a:ext cx="95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.png</a:t>
            </a:r>
            <a:endParaRPr lang="es-ES" sz="1200" dirty="0"/>
          </a:p>
        </p:txBody>
      </p:sp>
      <p:sp>
        <p:nvSpPr>
          <p:cNvPr id="29" name="Box29"/>
          <p:cNvSpPr/>
          <p:nvPr/>
        </p:nvSpPr>
        <p:spPr>
          <a:xfrm>
            <a:off x="2938600" y="2900000"/>
            <a:ext cx="11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0</a:t>
            </a:r>
            <a:endParaRPr lang="es-ES" sz="1200" dirty="0"/>
          </a:p>
        </p:txBody>
      </p:sp>
      <p:sp>
        <p:nvSpPr>
          <p:cNvPr id="30" name="Box30"/>
          <p:cNvSpPr/>
          <p:nvPr/>
        </p:nvSpPr>
        <p:spPr>
          <a:xfrm>
            <a:off x="4068600" y="2900000"/>
            <a:ext cx="16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2024-03-15 08:21</a:t>
            </a:r>
            <a:endParaRPr lang="es-ES" sz="1200" dirty="0"/>
          </a:p>
        </p:txBody>
      </p:sp>
      <p:sp>
        <p:nvSpPr>
          <p:cNvPr id="31" name="Box31"/>
          <p:cNvSpPr/>
          <p:nvPr/>
        </p:nvSpPr>
        <p:spPr>
          <a:xfrm>
            <a:off x="5698600" y="2900000"/>
            <a:ext cx="3000000" cy="37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evidencias_usb/imagenes/...</a:t>
            </a:r>
            <a:endParaRPr lang="es-ES" sz="1200" dirty="0"/>
          </a:p>
        </p:txBody>
      </p:sp>
      <p:sp>
        <p:nvSpPr>
          <p:cNvPr id="32" name="Box32"/>
          <p:cNvSpPr/>
          <p:nvPr/>
        </p:nvSpPr>
        <p:spPr>
          <a:xfrm>
            <a:off x="228600" y="3270000"/>
            <a:ext cx="17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sistema.log</a:t>
            </a:r>
            <a:endParaRPr lang="es-ES" sz="1200" dirty="0"/>
          </a:p>
        </p:txBody>
      </p:sp>
      <p:sp>
        <p:nvSpPr>
          <p:cNvPr id="33" name="Box33"/>
          <p:cNvSpPr/>
          <p:nvPr/>
        </p:nvSpPr>
        <p:spPr>
          <a:xfrm>
            <a:off x="1958600" y="3270000"/>
            <a:ext cx="95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.log</a:t>
            </a:r>
            <a:endParaRPr lang="es-ES" sz="1200" dirty="0"/>
          </a:p>
        </p:txBody>
      </p:sp>
      <p:sp>
        <p:nvSpPr>
          <p:cNvPr id="34" name="Box34"/>
          <p:cNvSpPr/>
          <p:nvPr/>
        </p:nvSpPr>
        <p:spPr>
          <a:xfrm>
            <a:off x="2938600" y="3270000"/>
            <a:ext cx="11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37</a:t>
            </a:r>
            <a:endParaRPr lang="es-ES" sz="1200" dirty="0"/>
          </a:p>
        </p:txBody>
      </p:sp>
      <p:sp>
        <p:nvSpPr>
          <p:cNvPr id="35" name="Box35"/>
          <p:cNvSpPr/>
          <p:nvPr/>
        </p:nvSpPr>
        <p:spPr>
          <a:xfrm>
            <a:off x="4068600" y="3270000"/>
            <a:ext cx="16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2024-03-15 08:25</a:t>
            </a:r>
            <a:endParaRPr lang="es-ES" sz="1200" dirty="0"/>
          </a:p>
        </p:txBody>
      </p:sp>
      <p:sp>
        <p:nvSpPr>
          <p:cNvPr id="36" name="Box36"/>
          <p:cNvSpPr/>
          <p:nvPr/>
        </p:nvSpPr>
        <p:spPr>
          <a:xfrm>
            <a:off x="5698600" y="3270000"/>
            <a:ext cx="3000000" cy="3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200" dirty="0">
                <a:solidFill>
                  <a:srgbClr val="1E293B"/>
                </a:solidFill>
                <a:latin typeface="Courier New" pitchFamily="34" charset="0"/>
              </a:rPr>
              <a:t>evidencias_usb/logs/...</a:t>
            </a:r>
            <a:endParaRPr lang="es-ES" sz="1200" dirty="0"/>
          </a:p>
        </p:txBody>
      </p:sp>
      <p:sp>
        <p:nvSpPr>
          <p:cNvPr id="37" name="Box37"/>
          <p:cNvSpPr/>
          <p:nvPr/>
        </p:nvSpPr>
        <p:spPr>
          <a:xfrm>
            <a:off x="228600" y="4780000"/>
            <a:ext cx="8686800" cy="25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950" i="1" dirty="0">
                <a:solidFill>
                  <a:srgbClr val="64748B"/>
                </a:solidFill>
                <a:latin typeface="Calibri" pitchFamily="34" charset="0"/>
              </a:rPr>
              <a:t>💡  Ampliación: añadir columna mime_type con mimetypes.guess_type() o columna hash_sha256 con hashlib.</a:t>
            </a:r>
            <a:endParaRPr lang="es-E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Ampliación del Script — Filtros y Detección MIME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Dos extensiones avanzadas para un inventario más completo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Box7"/>
          <p:cNvSpPr/>
          <p:nvPr/>
        </p:nvSpPr>
        <p:spPr>
          <a:xfrm>
            <a:off x="320040" y="1225786"/>
            <a:ext cx="4100000" cy="1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300" b="1" dirty="0">
                <a:solidFill>
                  <a:srgbClr val="0E7490"/>
                </a:solidFill>
                <a:latin typeface="Calibri" pitchFamily="34" charset="0"/>
              </a:rPr>
              <a:t>Filtro por extensión</a:t>
            </a:r>
            <a:endParaRPr lang="es-ES" dirty="0"/>
          </a:p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Pasar sys.argv[2] como filtro:</a:t>
            </a:r>
            <a:endParaRPr lang="es-ES" dirty="0"/>
          </a:p>
          <a:p>
            <a:pPr marL="0" indent="0" algn="l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python inventario_forense.py ./usb .jpg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4624040" y="1225786"/>
            <a:ext cx="4200000" cy="1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300" b="1" dirty="0">
                <a:solidFill>
                  <a:srgbClr val="0E7490"/>
                </a:solidFill>
                <a:latin typeface="Calibri" pitchFamily="34" charset="0"/>
              </a:rPr>
              <a:t>Detección MIME (básica)</a:t>
            </a:r>
            <a:endParaRPr lang="es-ES" dirty="0"/>
          </a:p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mimetypes.guess_type() infiere por extensión:</a:t>
            </a:r>
            <a:endParaRPr lang="es-ES" dirty="0"/>
          </a:p>
          <a:p>
            <a:pPr marL="0" indent="0" algn="l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image/jpeg  · application/pdf  · text/plain</a:t>
            </a:r>
            <a:endParaRPr lang="es-ES" dirty="0"/>
          </a:p>
        </p:txBody>
      </p:sp>
      <p:sp>
        <p:nvSpPr>
          <p:cNvPr id="9" name="Code"/>
          <p:cNvSpPr/>
          <p:nvPr/>
        </p:nvSpPr>
        <p:spPr>
          <a:xfrm>
            <a:off x="320040" y="2744020"/>
            <a:ext cx="8503960" cy="21359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Detección MIME robusta: usa magic bytes (no la extensión)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pip install python-magic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magic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mime = magic.from_file('foto_renombrada.exe', mime=True)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print(mime)   # → 'image/jpeg'  ← ¡el archivo es realmente una imagen!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Forense: un atacante puede renombrar .jpg como .exe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python-magic lee los primeros bytes del archivo (firma o 'magic bytes')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y determina el tipo real, ignorando la extensión.</a:t>
            </a:r>
            <a:endParaRPr lang="es-E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Regresamos a las 11:15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4114800"/>
            <a:ext cx="64008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completado: Fundamentos forenses · Ciclo de desarrollo · inventario_forense.py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· EXIF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Análisis de Logs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88720" y="4297680"/>
            <a:ext cx="11887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188720" y="4297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4297680"/>
            <a:ext cx="13716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83464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EXIF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4297680"/>
            <a:ext cx="13716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66344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forense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4297680"/>
            <a:ext cx="12801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92240" y="4297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logs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e Integridad de la Evidencia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hash · Propiedades · hashlib en Python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196596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004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1865376"/>
            <a:ext cx="183794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cualquier entrada dada, el hash se computa en tiempo constante.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3258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468880" y="1325880"/>
            <a:ext cx="19659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46888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32888" y="1865376"/>
            <a:ext cx="183794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reconstruir la entrada original a partir del hash.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17720" y="1325880"/>
            <a:ext cx="19659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61772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Sensible a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81728" y="1874520"/>
            <a:ext cx="18379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modificación mínima en el archivo cambia el hash completamente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13258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6766560" y="1325880"/>
            <a:ext cx="19659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76656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Sin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Colisiones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30568" y="1865376"/>
            <a:ext cx="183794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probable encontrar dos entradas distintas con el mismo hash.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85039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20040" y="2834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más usados en informática forense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154680"/>
            <a:ext cx="13716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2004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91640" y="3154680"/>
            <a:ext cx="128016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169164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71800" y="3154680"/>
            <a:ext cx="256032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297180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3154680"/>
            <a:ext cx="310896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53212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429000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365760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91640" y="3429000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1737360" y="3429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bits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71800" y="3429000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3017520" y="3429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Colisiones conocidas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32120" y="3429000"/>
            <a:ext cx="3108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577840" y="3429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interna rápida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377647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65760" y="37764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691640" y="3776472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1737360" y="3776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bits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971800" y="377647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3017520" y="3776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Obsoleto criptografía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32120" y="3776472"/>
            <a:ext cx="3108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5577840" y="3776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legacy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4123944"/>
            <a:ext cx="13716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365760" y="41239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91640" y="4123944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1737360" y="41239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bits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971800" y="4123944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3017520" y="41239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Estándar actual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32120" y="4123944"/>
            <a:ext cx="3108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5577840" y="41239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forenses modernos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" y="4662760"/>
            <a:ext cx="8503920" cy="365760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57200" y="46627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forense: calcular el hash ANTES de trabajar con la evidencia · Registrar en informe · Recalcular al finalizar para verificar integridad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MD5 vs SHA-1 vs SHA-256 — Comparativa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Elegir el algoritmo correcto según el estándar del laboratorio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Box7"/>
          <p:cNvSpPr/>
          <p:nvPr/>
        </p:nvSpPr>
        <p:spPr>
          <a:xfrm>
            <a:off x="112000" y="1253776"/>
            <a:ext cx="2400000" cy="4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Característica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2542000" y="1253776"/>
            <a:ext cx="2000000" cy="4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MD5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4572000" y="1253776"/>
            <a:ext cx="2000000" cy="4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SHA-1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6602000" y="1253776"/>
            <a:ext cx="2400000" cy="4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FFFFFF"/>
                </a:solidFill>
                <a:latin typeface="Calibri" pitchFamily="34" charset="0"/>
              </a:rPr>
              <a:t>SHA-256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112000" y="1733776"/>
            <a:ext cx="2400000" cy="48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Longitud salida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2542000" y="1733776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128 bits / 32 hex</a:t>
            </a:r>
            <a:endParaRPr lang="es-ES" dirty="0"/>
          </a:p>
        </p:txBody>
      </p:sp>
      <p:sp>
        <p:nvSpPr>
          <p:cNvPr id="13" name="Box13"/>
          <p:cNvSpPr/>
          <p:nvPr/>
        </p:nvSpPr>
        <p:spPr>
          <a:xfrm>
            <a:off x="4572000" y="1733776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160 bits / 40 hex</a:t>
            </a:r>
            <a:endParaRPr lang="es-ES" dirty="0"/>
          </a:p>
        </p:txBody>
      </p:sp>
      <p:sp>
        <p:nvSpPr>
          <p:cNvPr id="14" name="Box14"/>
          <p:cNvSpPr/>
          <p:nvPr/>
        </p:nvSpPr>
        <p:spPr>
          <a:xfrm>
            <a:off x="6602000" y="1733776"/>
            <a:ext cx="24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256 bits / 64 hex</a:t>
            </a:r>
            <a:endParaRPr lang="es-ES" dirty="0"/>
          </a:p>
        </p:txBody>
      </p:sp>
      <p:sp>
        <p:nvSpPr>
          <p:cNvPr id="15" name="Box15"/>
          <p:cNvSpPr/>
          <p:nvPr/>
        </p:nvSpPr>
        <p:spPr>
          <a:xfrm>
            <a:off x="112000" y="2213776"/>
            <a:ext cx="24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Velocidad</a:t>
            </a:r>
            <a:endParaRPr lang="es-ES" dirty="0"/>
          </a:p>
        </p:txBody>
      </p:sp>
      <p:sp>
        <p:nvSpPr>
          <p:cNvPr id="16" name="Box16"/>
          <p:cNvSpPr/>
          <p:nvPr/>
        </p:nvSpPr>
        <p:spPr>
          <a:xfrm>
            <a:off x="2542000" y="2213776"/>
            <a:ext cx="20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Muy rápido</a:t>
            </a:r>
            <a:endParaRPr lang="es-ES" dirty="0"/>
          </a:p>
        </p:txBody>
      </p:sp>
      <p:sp>
        <p:nvSpPr>
          <p:cNvPr id="17" name="Box17"/>
          <p:cNvSpPr/>
          <p:nvPr/>
        </p:nvSpPr>
        <p:spPr>
          <a:xfrm>
            <a:off x="4572000" y="2213776"/>
            <a:ext cx="20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Rápido</a:t>
            </a:r>
            <a:endParaRPr lang="es-ES" dirty="0"/>
          </a:p>
        </p:txBody>
      </p:sp>
      <p:sp>
        <p:nvSpPr>
          <p:cNvPr id="18" name="Box18"/>
          <p:cNvSpPr/>
          <p:nvPr/>
        </p:nvSpPr>
        <p:spPr>
          <a:xfrm>
            <a:off x="6602000" y="2213776"/>
            <a:ext cx="24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Moderado</a:t>
            </a:r>
            <a:endParaRPr lang="es-ES" dirty="0"/>
          </a:p>
        </p:txBody>
      </p:sp>
      <p:sp>
        <p:nvSpPr>
          <p:cNvPr id="19" name="Box19"/>
          <p:cNvSpPr/>
          <p:nvPr/>
        </p:nvSpPr>
        <p:spPr>
          <a:xfrm>
            <a:off x="112000" y="2693776"/>
            <a:ext cx="2400000" cy="48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Colisiones</a:t>
            </a:r>
            <a:endParaRPr lang="es-ES" dirty="0"/>
          </a:p>
        </p:txBody>
      </p:sp>
      <p:sp>
        <p:nvSpPr>
          <p:cNvPr id="20" name="Box20"/>
          <p:cNvSpPr/>
          <p:nvPr/>
        </p:nvSpPr>
        <p:spPr>
          <a:xfrm>
            <a:off x="2542000" y="2693776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991B1B"/>
                </a:solidFill>
                <a:latin typeface="Calibri" pitchFamily="34" charset="0"/>
              </a:rPr>
              <a:t>✗ Conocidas</a:t>
            </a:r>
            <a:endParaRPr lang="es-ES" dirty="0"/>
          </a:p>
        </p:txBody>
      </p:sp>
      <p:sp>
        <p:nvSpPr>
          <p:cNvPr id="21" name="Box21"/>
          <p:cNvSpPr/>
          <p:nvPr/>
        </p:nvSpPr>
        <p:spPr>
          <a:xfrm>
            <a:off x="4572000" y="2693776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991B1B"/>
                </a:solidFill>
                <a:latin typeface="Calibri" pitchFamily="34" charset="0"/>
              </a:rPr>
              <a:t>✗ Demostradas</a:t>
            </a:r>
            <a:endParaRPr lang="es-ES" dirty="0"/>
          </a:p>
        </p:txBody>
      </p:sp>
      <p:sp>
        <p:nvSpPr>
          <p:cNvPr id="22" name="Box22"/>
          <p:cNvSpPr/>
          <p:nvPr/>
        </p:nvSpPr>
        <p:spPr>
          <a:xfrm>
            <a:off x="6602000" y="2693776"/>
            <a:ext cx="24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166534"/>
                </a:solidFill>
                <a:latin typeface="Calibri" pitchFamily="34" charset="0"/>
              </a:rPr>
              <a:t>✓ No demostradas</a:t>
            </a:r>
            <a:endParaRPr lang="es-ES" dirty="0"/>
          </a:p>
        </p:txBody>
      </p:sp>
      <p:sp>
        <p:nvSpPr>
          <p:cNvPr id="23" name="Box23"/>
          <p:cNvSpPr/>
          <p:nvPr/>
        </p:nvSpPr>
        <p:spPr>
          <a:xfrm>
            <a:off x="112000" y="3173776"/>
            <a:ext cx="24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Uso forense hoy</a:t>
            </a:r>
            <a:endParaRPr lang="es-ES" dirty="0"/>
          </a:p>
        </p:txBody>
      </p:sp>
      <p:sp>
        <p:nvSpPr>
          <p:cNvPr id="24" name="Box24"/>
          <p:cNvSpPr/>
          <p:nvPr/>
        </p:nvSpPr>
        <p:spPr>
          <a:xfrm>
            <a:off x="2542000" y="3173776"/>
            <a:ext cx="20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Verificación interna</a:t>
            </a:r>
            <a:endParaRPr lang="es-ES" dirty="0"/>
          </a:p>
        </p:txBody>
      </p:sp>
      <p:sp>
        <p:nvSpPr>
          <p:cNvPr id="25" name="Box25"/>
          <p:cNvSpPr/>
          <p:nvPr/>
        </p:nvSpPr>
        <p:spPr>
          <a:xfrm>
            <a:off x="4572000" y="3173776"/>
            <a:ext cx="20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Obsoleto</a:t>
            </a:r>
            <a:endParaRPr lang="es-ES" dirty="0"/>
          </a:p>
        </p:txBody>
      </p:sp>
      <p:sp>
        <p:nvSpPr>
          <p:cNvPr id="26" name="Box26"/>
          <p:cNvSpPr/>
          <p:nvPr/>
        </p:nvSpPr>
        <p:spPr>
          <a:xfrm>
            <a:off x="6602000" y="3173776"/>
            <a:ext cx="2400000" cy="48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166534"/>
                </a:solidFill>
                <a:latin typeface="Calibri" pitchFamily="34" charset="0"/>
              </a:rPr>
              <a:t>✓ Estándar actual</a:t>
            </a:r>
            <a:endParaRPr lang="es-ES" dirty="0"/>
          </a:p>
        </p:txBody>
      </p:sp>
      <p:sp>
        <p:nvSpPr>
          <p:cNvPr id="27" name="Box27"/>
          <p:cNvSpPr/>
          <p:nvPr/>
        </p:nvSpPr>
        <p:spPr>
          <a:xfrm>
            <a:off x="112000" y="3653776"/>
            <a:ext cx="2400000" cy="48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0F172A"/>
                </a:solidFill>
                <a:latin typeface="Calibri" pitchFamily="34" charset="0"/>
              </a:rPr>
              <a:t>FTK / EnCase</a:t>
            </a:r>
            <a:endParaRPr lang="es-ES" dirty="0"/>
          </a:p>
        </p:txBody>
      </p:sp>
      <p:sp>
        <p:nvSpPr>
          <p:cNvPr id="28" name="Box28"/>
          <p:cNvSpPr/>
          <p:nvPr/>
        </p:nvSpPr>
        <p:spPr>
          <a:xfrm>
            <a:off x="2542000" y="3653776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Compatible</a:t>
            </a:r>
            <a:endParaRPr lang="es-ES" dirty="0"/>
          </a:p>
        </p:txBody>
      </p:sp>
      <p:sp>
        <p:nvSpPr>
          <p:cNvPr id="29" name="Box29"/>
          <p:cNvSpPr/>
          <p:nvPr/>
        </p:nvSpPr>
        <p:spPr>
          <a:xfrm>
            <a:off x="4572000" y="3653776"/>
            <a:ext cx="20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Compatible</a:t>
            </a:r>
            <a:endParaRPr lang="es-ES" dirty="0"/>
          </a:p>
        </p:txBody>
      </p:sp>
      <p:sp>
        <p:nvSpPr>
          <p:cNvPr id="30" name="Box30"/>
          <p:cNvSpPr/>
          <p:nvPr/>
        </p:nvSpPr>
        <p:spPr>
          <a:xfrm>
            <a:off x="6602000" y="3653776"/>
            <a:ext cx="2400000" cy="48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Recomendado</a:t>
            </a:r>
            <a:endParaRPr lang="es-ES" dirty="0"/>
          </a:p>
        </p:txBody>
      </p:sp>
      <p:sp>
        <p:nvSpPr>
          <p:cNvPr id="31" name="Box31"/>
          <p:cNvSpPr/>
          <p:nvPr/>
        </p:nvSpPr>
        <p:spPr>
          <a:xfrm>
            <a:off x="228600" y="4400000"/>
            <a:ext cx="8686800" cy="43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950" i="1" dirty="0">
                <a:solidFill>
                  <a:srgbClr val="64748B"/>
                </a:solidFill>
                <a:latin typeface="Calibri" pitchFamily="34" charset="0"/>
              </a:rPr>
              <a:t>📌  En la mayoría de laboratorios forenses se calcula TANTO MD5 como SHA-256: MD5 por compatibilidad con herramientas antiguas, SHA-256 como estándar de integridad.</a:t>
            </a:r>
            <a:endParaRPr lang="es-E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El Efecto Avalancha — 1 Bit Cambia Todo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Por qué el hash es el sello perfecto de integridad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Box7"/>
          <p:cNvSpPr/>
          <p:nvPr/>
        </p:nvSpPr>
        <p:spPr>
          <a:xfrm>
            <a:off x="228600" y="1430000"/>
            <a:ext cx="4100000" cy="700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0F172A"/>
                </a:solidFill>
                <a:latin typeface="Calibri" pitchFamily="34" charset="0"/>
              </a:rPr>
              <a:t>Mensaje original:</a:t>
            </a:r>
            <a:endParaRPr lang="es-ES" dirty="0"/>
          </a:p>
          <a:p>
            <a:pPr marL="0" indent="0" algn="l">
              <a:buNone/>
            </a:pPr>
            <a:r>
              <a:rPr lang="es-ES" sz="1100" dirty="0">
                <a:solidFill>
                  <a:srgbClr val="166534"/>
                </a:solidFill>
                <a:latin typeface="Courier New" pitchFamily="34" charset="0"/>
              </a:rPr>
              <a:t>"GalileoForense"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228600" y="2200000"/>
            <a:ext cx="4100000" cy="700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0F172A"/>
                </a:solidFill>
                <a:latin typeface="Calibri" pitchFamily="34" charset="0"/>
              </a:rPr>
              <a:t>SHA-256:</a:t>
            </a:r>
            <a:endParaRPr lang="es-ES" dirty="0"/>
          </a:p>
          <a:p>
            <a:pPr marL="0" indent="0" algn="l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a3f5c8e2...1b9d4f7a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228600" y="2980000"/>
            <a:ext cx="4100000" cy="40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000" i="1" dirty="0">
                <a:solidFill>
                  <a:srgbClr val="94A3B8"/>
                </a:solidFill>
                <a:latin typeface="Calibri" pitchFamily="34" charset="0"/>
              </a:rPr>
              <a:t>↓  cambio de 1 letra: 'G' → 'g'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228600" y="3430000"/>
            <a:ext cx="4100000" cy="7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0F172A"/>
                </a:solidFill>
                <a:latin typeface="Calibri" pitchFamily="34" charset="0"/>
              </a:rPr>
              <a:t>Mensaje modificado:</a:t>
            </a:r>
            <a:endParaRPr lang="es-ES" dirty="0"/>
          </a:p>
          <a:p>
            <a:pPr marL="0" indent="0" algn="l">
              <a:buNone/>
            </a:pPr>
            <a:r>
              <a:rPr lang="es-ES" sz="1100" dirty="0">
                <a:solidFill>
                  <a:srgbClr val="991B1B"/>
                </a:solidFill>
                <a:latin typeface="Courier New" pitchFamily="34" charset="0"/>
              </a:rPr>
              <a:t>"galileoForense"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228600" y="4200000"/>
            <a:ext cx="4100000" cy="7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0F172A"/>
                </a:solidFill>
                <a:latin typeface="Calibri" pitchFamily="34" charset="0"/>
              </a:rPr>
              <a:t>SHA-256:</a:t>
            </a:r>
            <a:endParaRPr lang="es-ES" dirty="0"/>
          </a:p>
          <a:p>
            <a:pPr marL="0" indent="0" algn="l">
              <a:buNone/>
            </a:pPr>
            <a:r>
              <a:rPr lang="es-ES" sz="950" dirty="0">
                <a:solidFill>
                  <a:srgbClr val="991B1B"/>
                </a:solidFill>
                <a:latin typeface="Courier New" pitchFamily="34" charset="0"/>
              </a:rPr>
              <a:t>7c21ab09...e4f83c11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4500000" y="1430000"/>
            <a:ext cx="441596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600" b="1" dirty="0">
                <a:solidFill>
                  <a:srgbClr val="0F172A"/>
                </a:solidFill>
                <a:latin typeface="Calibri" pitchFamily="34" charset="0"/>
              </a:rPr>
              <a:t>¿Por qué es importante?</a:t>
            </a:r>
          </a:p>
          <a:p>
            <a:pPr marL="0" indent="0" algn="l">
              <a:buNone/>
            </a:pPr>
            <a:endParaRPr lang="es-ES" sz="1600" dirty="0"/>
          </a:p>
          <a:p>
            <a:pPr marL="0" indent="0" algn="l">
              <a:buNone/>
            </a:pPr>
            <a:r>
              <a:rPr lang="es-ES" sz="1400" dirty="0">
                <a:solidFill>
                  <a:srgbClr val="1E293B"/>
                </a:solidFill>
                <a:latin typeface="Calibri" pitchFamily="34" charset="0"/>
              </a:rPr>
              <a:t>Un cambio de un solo carácter produce un hash completamente diferente.</a:t>
            </a:r>
            <a:endParaRPr lang="es-ES" sz="1400" dirty="0"/>
          </a:p>
          <a:p>
            <a:pPr marL="0" indent="0" algn="l">
              <a:buNone/>
            </a:pPr>
            <a:endParaRPr lang="es-ES" sz="1400" dirty="0"/>
          </a:p>
          <a:p>
            <a:pPr marL="0" indent="0" algn="l">
              <a:buNone/>
            </a:pPr>
            <a:r>
              <a:rPr lang="es-ES" sz="1400" dirty="0">
                <a:solidFill>
                  <a:srgbClr val="1E293B"/>
                </a:solidFill>
                <a:latin typeface="Calibri" pitchFamily="34" charset="0"/>
              </a:rPr>
              <a:t>Esto garantiza que cualquier modificación, por pequeña que sea, se detecte al comparar hashes.</a:t>
            </a:r>
            <a:endParaRPr lang="es-ES" sz="1400" dirty="0"/>
          </a:p>
          <a:p>
            <a:pPr marL="0" indent="0" algn="l">
              <a:buNone/>
            </a:pPr>
            <a:endParaRPr lang="es-ES" sz="1400" dirty="0"/>
          </a:p>
          <a:p>
            <a:pPr marL="0" indent="0" algn="l">
              <a:buNone/>
            </a:pPr>
            <a:endParaRPr lang="es-ES" sz="1400" b="1" dirty="0">
              <a:solidFill>
                <a:srgbClr val="0E7490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es-ES" sz="1400" b="1" dirty="0">
                <a:solidFill>
                  <a:srgbClr val="0E7490"/>
                </a:solidFill>
                <a:latin typeface="Calibri" pitchFamily="34" charset="0"/>
              </a:rPr>
              <a:t>En forense:</a:t>
            </a:r>
          </a:p>
          <a:p>
            <a:pPr marL="0" indent="0" algn="l">
              <a:buNone/>
            </a:pPr>
            <a:endParaRPr lang="es-ES" sz="1400" dirty="0"/>
          </a:p>
          <a:p>
            <a:pPr marL="0" indent="0" algn="l">
              <a:buNone/>
            </a:pPr>
            <a:r>
              <a:rPr lang="es-ES" sz="1400" dirty="0">
                <a:solidFill>
                  <a:srgbClr val="1E293B"/>
                </a:solidFill>
                <a:latin typeface="Calibri" pitchFamily="34" charset="0"/>
              </a:rPr>
              <a:t>Si alguien modifica un archivo de evidencia, aunque sea un byte, el hash cambia. El investigador lo detecta inmediatamente.</a:t>
            </a:r>
            <a:endParaRPr lang="es-E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Flujo Completo de Verificación de Integridad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Protocolo forense para garantizar la cadena de custodia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FC0"/>
          <p:cNvSpPr/>
          <p:nvPr/>
        </p:nvSpPr>
        <p:spPr>
          <a:xfrm>
            <a:off x="419736" y="1704320"/>
            <a:ext cx="1540000" cy="1955462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419736" y="1686033"/>
            <a:ext cx="1540000" cy="1973749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marL="0" indent="0" algn="ctr">
              <a:buNone/>
            </a:pPr>
            <a:r>
              <a:rPr lang="es-ES" sz="1600" b="1" dirty="0">
                <a:solidFill>
                  <a:srgbClr val="FFFFFF"/>
                </a:solidFill>
                <a:latin typeface="Calibri" pitchFamily="34" charset="0"/>
              </a:rPr>
              <a:t>PASO 1</a:t>
            </a:r>
          </a:p>
          <a:p>
            <a:pPr marL="0" indent="0" algn="ctr">
              <a:buNone/>
            </a:pPr>
            <a:endParaRPr lang="es-ES" sz="1600" dirty="0"/>
          </a:p>
          <a:p>
            <a:pPr marL="0" indent="0" algn="ctr">
              <a:buNone/>
            </a:pPr>
            <a:r>
              <a:rPr lang="es-ES" sz="1400" dirty="0">
                <a:solidFill>
                  <a:srgbClr val="E0F2FE"/>
                </a:solidFill>
                <a:latin typeface="Calibri" pitchFamily="34" charset="0"/>
              </a:rPr>
              <a:t>Adquirir evidencia
(archivo o copia)</a:t>
            </a:r>
            <a:endParaRPr lang="es-ES" sz="1400" dirty="0"/>
          </a:p>
        </p:txBody>
      </p:sp>
      <p:sp>
        <p:nvSpPr>
          <p:cNvPr id="9" name="FC1"/>
          <p:cNvSpPr/>
          <p:nvPr/>
        </p:nvSpPr>
        <p:spPr>
          <a:xfrm>
            <a:off x="2051176" y="1704320"/>
            <a:ext cx="1540000" cy="1955461"/>
          </a:xfrm>
          <a:prstGeom prst="rect">
            <a:avLst/>
          </a:prstGeom>
          <a:solidFill>
            <a:srgbClr val="0891B5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Box10"/>
          <p:cNvSpPr/>
          <p:nvPr/>
        </p:nvSpPr>
        <p:spPr>
          <a:xfrm>
            <a:off x="2051176" y="1704320"/>
            <a:ext cx="1540000" cy="1955456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marL="0" indent="0" algn="ctr">
              <a:buNone/>
            </a:pPr>
            <a:r>
              <a:rPr lang="es-ES" sz="1600" b="1" dirty="0">
                <a:solidFill>
                  <a:srgbClr val="FFFFFF"/>
                </a:solidFill>
                <a:latin typeface="Calibri" pitchFamily="34" charset="0"/>
              </a:rPr>
              <a:t>PASO 2</a:t>
            </a:r>
          </a:p>
          <a:p>
            <a:pPr marL="0" indent="0" algn="ctr">
              <a:buNone/>
            </a:pPr>
            <a:endParaRPr lang="es-ES" sz="1600" dirty="0"/>
          </a:p>
          <a:p>
            <a:pPr marL="0" indent="0" algn="ctr">
              <a:buNone/>
            </a:pPr>
            <a:r>
              <a:rPr lang="es-ES" sz="1400" dirty="0">
                <a:solidFill>
                  <a:srgbClr val="E0F2FE"/>
                </a:solidFill>
                <a:latin typeface="Calibri" pitchFamily="34" charset="0"/>
              </a:rPr>
              <a:t>Calcular SHA-256
de la evidencia original</a:t>
            </a:r>
            <a:endParaRPr lang="es-ES" sz="1400" dirty="0"/>
          </a:p>
        </p:txBody>
      </p:sp>
      <p:sp>
        <p:nvSpPr>
          <p:cNvPr id="11" name="FC2"/>
          <p:cNvSpPr/>
          <p:nvPr/>
        </p:nvSpPr>
        <p:spPr>
          <a:xfrm>
            <a:off x="3682616" y="1704320"/>
            <a:ext cx="1540000" cy="1955462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txBody>
          <a:bodyPr/>
          <a:lstStyle/>
          <a:p>
            <a:endParaRPr lang="es-ES" sz="1600"/>
          </a:p>
        </p:txBody>
      </p:sp>
      <p:sp>
        <p:nvSpPr>
          <p:cNvPr id="12" name="Box12"/>
          <p:cNvSpPr/>
          <p:nvPr/>
        </p:nvSpPr>
        <p:spPr>
          <a:xfrm>
            <a:off x="3682616" y="1704320"/>
            <a:ext cx="1540000" cy="1955456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marL="0" indent="0" algn="ctr">
              <a:buNone/>
            </a:pPr>
            <a:r>
              <a:rPr lang="es-ES" sz="1600" b="1" dirty="0">
                <a:solidFill>
                  <a:srgbClr val="FFFFFF"/>
                </a:solidFill>
                <a:latin typeface="Calibri" pitchFamily="34" charset="0"/>
              </a:rPr>
              <a:t>PASO 3</a:t>
            </a:r>
          </a:p>
          <a:p>
            <a:pPr marL="0" indent="0" algn="ctr">
              <a:buNone/>
            </a:pPr>
            <a:endParaRPr lang="es-ES" sz="1600" dirty="0"/>
          </a:p>
          <a:p>
            <a:pPr marL="0" indent="0" algn="ctr">
              <a:buNone/>
            </a:pPr>
            <a:r>
              <a:rPr lang="es-ES" sz="1400" dirty="0">
                <a:solidFill>
                  <a:srgbClr val="E0F2FE"/>
                </a:solidFill>
                <a:latin typeface="Calibri" pitchFamily="34" charset="0"/>
              </a:rPr>
              <a:t>Registrar hash
en el informe pericial</a:t>
            </a:r>
            <a:endParaRPr lang="es-ES" sz="1400" dirty="0"/>
          </a:p>
        </p:txBody>
      </p:sp>
      <p:sp>
        <p:nvSpPr>
          <p:cNvPr id="13" name="FC3"/>
          <p:cNvSpPr/>
          <p:nvPr/>
        </p:nvSpPr>
        <p:spPr>
          <a:xfrm>
            <a:off x="5314056" y="1704319"/>
            <a:ext cx="1540000" cy="1955457"/>
          </a:xfrm>
          <a:prstGeom prst="rect">
            <a:avLst/>
          </a:prstGeom>
          <a:solidFill>
            <a:srgbClr val="155E75"/>
          </a:solidFill>
          <a:ln w="0">
            <a:noFill/>
          </a:ln>
        </p:spPr>
        <p:txBody>
          <a:bodyPr/>
          <a:lstStyle/>
          <a:p>
            <a:endParaRPr lang="es-ES" sz="1600"/>
          </a:p>
        </p:txBody>
      </p:sp>
      <p:sp>
        <p:nvSpPr>
          <p:cNvPr id="14" name="Box14"/>
          <p:cNvSpPr/>
          <p:nvPr/>
        </p:nvSpPr>
        <p:spPr>
          <a:xfrm>
            <a:off x="5314056" y="1704320"/>
            <a:ext cx="1540000" cy="1955462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marL="0" indent="0" algn="ctr">
              <a:buNone/>
            </a:pPr>
            <a:r>
              <a:rPr lang="es-ES" sz="1600" b="1" dirty="0">
                <a:solidFill>
                  <a:srgbClr val="FFFFFF"/>
                </a:solidFill>
                <a:latin typeface="Calibri" pitchFamily="34" charset="0"/>
              </a:rPr>
              <a:t>PASO 4</a:t>
            </a:r>
          </a:p>
          <a:p>
            <a:pPr marL="0" indent="0" algn="ctr">
              <a:buNone/>
            </a:pPr>
            <a:endParaRPr lang="es-ES" sz="1600" dirty="0"/>
          </a:p>
          <a:p>
            <a:pPr marL="0" indent="0" algn="ctr">
              <a:buNone/>
            </a:pPr>
            <a:r>
              <a:rPr lang="es-ES" sz="1400" dirty="0">
                <a:solidFill>
                  <a:srgbClr val="E0F2FE"/>
                </a:solidFill>
                <a:latin typeface="Calibri" pitchFamily="34" charset="0"/>
              </a:rPr>
              <a:t>Trabajar sobre
copia, nunca el original</a:t>
            </a:r>
            <a:endParaRPr lang="es-ES" sz="1400" dirty="0"/>
          </a:p>
        </p:txBody>
      </p:sp>
      <p:sp>
        <p:nvSpPr>
          <p:cNvPr id="15" name="FC4"/>
          <p:cNvSpPr/>
          <p:nvPr/>
        </p:nvSpPr>
        <p:spPr>
          <a:xfrm>
            <a:off x="6945496" y="1704320"/>
            <a:ext cx="1540000" cy="1955462"/>
          </a:xfrm>
          <a:prstGeom prst="rect">
            <a:avLst/>
          </a:prstGeom>
          <a:solidFill>
            <a:srgbClr val="164E63"/>
          </a:solidFill>
          <a:ln w="0">
            <a:noFill/>
          </a:ln>
        </p:spPr>
        <p:txBody>
          <a:bodyPr/>
          <a:lstStyle/>
          <a:p>
            <a:endParaRPr lang="es-ES" sz="1600"/>
          </a:p>
        </p:txBody>
      </p:sp>
      <p:sp>
        <p:nvSpPr>
          <p:cNvPr id="16" name="Box16"/>
          <p:cNvSpPr/>
          <p:nvPr/>
        </p:nvSpPr>
        <p:spPr>
          <a:xfrm>
            <a:off x="6945496" y="1704320"/>
            <a:ext cx="1540000" cy="1955456"/>
          </a:xfrm>
          <a:prstGeom prst="rect">
            <a:avLst/>
          </a:prstGeom>
          <a:noFill/>
        </p:spPr>
        <p:txBody>
          <a:bodyPr wrap="square" lIns="114300" tIns="91440" rIns="114300" bIns="91440" rtlCol="0" anchor="t"/>
          <a:lstStyle/>
          <a:p>
            <a:pPr marL="0" indent="0" algn="ctr">
              <a:buNone/>
            </a:pPr>
            <a:r>
              <a:rPr lang="es-ES" sz="1600" b="1" dirty="0">
                <a:solidFill>
                  <a:srgbClr val="FFFFFF"/>
                </a:solidFill>
                <a:latin typeface="Calibri" pitchFamily="34" charset="0"/>
              </a:rPr>
              <a:t>PASO 5</a:t>
            </a:r>
          </a:p>
          <a:p>
            <a:pPr marL="0" indent="0" algn="ctr">
              <a:buNone/>
            </a:pPr>
            <a:endParaRPr lang="es-ES" sz="1600" dirty="0"/>
          </a:p>
          <a:p>
            <a:pPr marL="0" indent="0" algn="ctr">
              <a:buNone/>
            </a:pPr>
            <a:r>
              <a:rPr lang="es-ES" sz="1400" dirty="0">
                <a:solidFill>
                  <a:srgbClr val="E0F2FE"/>
                </a:solidFill>
                <a:latin typeface="Calibri" pitchFamily="34" charset="0"/>
              </a:rPr>
              <a:t>Recalcular hash
y comparar con el registrado</a:t>
            </a:r>
            <a:endParaRPr lang="es-E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de Archivos con hashlib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práctica MD5 · SHA-256 · Hash con Salt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20624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archivo (SHA-256)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420624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39319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hashlib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hash_archivo(ruta, algoritmo="sha256"):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h = hashlib.new(algoritmo)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with open(ruta, "rb") as f: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# Leer en bloques (archivos grandes)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for bloque in iter(lambda: f.read(65536), b""):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h.update(bloque)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h.hexdigest()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 = hash_archivo("evidencia.img")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print(f"SHA-256: {sha}")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06908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54880" y="1325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con Salt — Análisis de contraseñas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618488"/>
            <a:ext cx="406908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7947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hashlib, os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hash_con_salt(password):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salt = os.urandom(16)  # 16 bytes aleatorios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hash_obj = hashlib.pbkdf2_hmac(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"sha256",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password.encode("utf-8"),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salt, 100000)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salt + hash_obj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verificar(password, hash_almacenado):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salt = hash_almacenado[:16]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hash_almacenado == salt + hashlib.pbkdf2_hmac("sha256", password.encode(), salt, 100000)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850392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Mini-ejercicio: Ampliar inventario_forense.py para incluir el hash SHA-256 de cada archivo en el CSV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178808"/>
            <a:ext cx="85039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el bucle de os.walk, añadir: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writer.writerow({..., "sha256": hash_archivo(ruta_completa)})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CSV ahora incluye la huella digital de cada archivo para el informe pericial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Hash con Salt — Protección de Contraseñas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Ejercicio Tutorialspoint: almacenar y verificar contraseñas de forma segura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307593"/>
            <a:ext cx="8503960" cy="35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import uuid, </a:t>
            </a:r>
            <a:r>
              <a:rPr lang="en-US" sz="900" dirty="0" err="1">
                <a:solidFill>
                  <a:srgbClr val="E2E8F0"/>
                </a:solidFill>
                <a:latin typeface="Courier New" pitchFamily="34" charset="0"/>
              </a:rPr>
              <a:t>hashlib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hash_password(password):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# uuid4() genera un salt aleatorio y único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salt   = uuid.uuid4().hex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hashed = hashlib.sha256(salt.encode() + password.encode()).hexdigest()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hashed + ':' + salt   # guardar ambos: hash y salt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check_password(hashed_password, user_password):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password_almacenado, salt = hashed_password.split(':')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password_almacenado == hashlib.sha256(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salt.encode() + user_password.encode()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).</a:t>
            </a:r>
            <a:r>
              <a:rPr lang="en-US" sz="900" dirty="0" err="1">
                <a:solidFill>
                  <a:srgbClr val="E2E8F0"/>
                </a:solidFill>
                <a:latin typeface="Courier New" pitchFamily="34" charset="0"/>
              </a:rPr>
              <a:t>hexdigest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()</a:t>
            </a:r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 err="1">
                <a:solidFill>
                  <a:srgbClr val="E2E8F0"/>
                </a:solidFill>
                <a:latin typeface="Courier New" pitchFamily="34" charset="0"/>
              </a:rPr>
              <a:t>pwd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= input('Introduce una contraseña: 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hashed = hash_password(pwd)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print(f'Hash almacenado: {hashed[:20]}...')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pwd2 = input('Verifica la contraseña: ‘)</a:t>
            </a:r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if check_password(hashed, pwd2):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print('[+] Contraseña CORRECTA')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else: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print('[!] Contraseña INCORRECTA')</a:t>
            </a:r>
            <a:endParaRPr lang="es-E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Mini-Ejercicio: Añadir SHA-256 al Inventario CSV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Ampliar inventario_forense.py para incluir hash de cada archivo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228302"/>
            <a:ext cx="8503960" cy="369169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1. Añadir al inicio del script: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hashlib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2. Nueva función de hashing (eficiente para archivos grandes):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calcular_hash(ruta, algoritmo='sha256'):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h = hashlib.new(algoritmo)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with open(ruta, 'rb') as f: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while bloque := f.read(65536):   # bloques de 64 KB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h.update(bloque)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h.hexdigest()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3. En obtener_metadatos(), añadir el campo: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'hash_sha256': calcular_hash(ruta_archivo),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4. Actualizar CAMPOS_CSV: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CAMPOS = ['nombre','extension','tamano_bytes',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'fecha_modificacion','hash_sha256','ruta_completa']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Resultado en el CSV: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contrato.docx | .docx | 28 | 2024-03-15 | a3f5c8e2...1b9d | evidencias_usb/...</a:t>
            </a:r>
            <a:endParaRPr lang="es-E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EXIF con Pillow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forense oculta en imágenes JPEG y TIFF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52144"/>
            <a:ext cx="85039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115214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— Exchangeable Image File Format: metadatos embebidos dentro de imágenes que el dispositivo registra automáticamente en el momento de la captura.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37944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65760" y="1837944"/>
            <a:ext cx="19659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12" name="Text 10"/>
          <p:cNvSpPr/>
          <p:nvPr/>
        </p:nvSpPr>
        <p:spPr>
          <a:xfrm>
            <a:off x="365760" y="18379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 ]  Temporal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 de captura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horaria del dispositivo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de modificación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837944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514600" y="1837944"/>
            <a:ext cx="19659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16" name="Text 14"/>
          <p:cNvSpPr/>
          <p:nvPr/>
        </p:nvSpPr>
        <p:spPr>
          <a:xfrm>
            <a:off x="2514600" y="18379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 ]  Dispositivo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2359152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Fabricante y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firmware</a:t>
            </a:r>
          </a:p>
          <a:p>
            <a:pPr>
              <a:buSzPct val="100000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Número de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837944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63440" y="1837944"/>
            <a:ext cx="19659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0" name="Text 18"/>
          <p:cNvSpPr/>
          <p:nvPr/>
        </p:nvSpPr>
        <p:spPr>
          <a:xfrm>
            <a:off x="4663440" y="18379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 Localización GPS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359152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Latitud /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</a:t>
            </a: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</a:t>
            </a: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y rumbo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837944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6812280" y="1837944"/>
            <a:ext cx="19659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 sz="1400"/>
          </a:p>
        </p:txBody>
      </p:sp>
      <p:sp>
        <p:nvSpPr>
          <p:cNvPr id="24" name="Text 22"/>
          <p:cNvSpPr/>
          <p:nvPr/>
        </p:nvSpPr>
        <p:spPr>
          <a:xfrm>
            <a:off x="6812280" y="18379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 ]  Técnico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2359152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Focal, apertura, ISO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Obturación</a:t>
            </a: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flash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279392"/>
            <a:ext cx="8503920" cy="59436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57200" y="427939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coordenadas GPS en una foto pueden situar a una persona en un lugar concreto en un momento concreto.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Es una de las evidencias más potentes que puede contener una imagen digital.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GPS en EXIF — Situar al Sospechoso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Extraer coordenadas y convertirlas a un enlace de Google Maps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180539"/>
            <a:ext cx="8503960" cy="377946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from PIL import Image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from PIL.ExifTags import TAGS, GPSTAGS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extraer_gps(ruta_imagen):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img      = Image.open(ruta_imagen)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exif_raw = img._getexif()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if not exif_raw: return None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exif = {TAGS.get(k, k): v for k, v in exif_raw.items()}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if 'GPSInfo' not in exif: return None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gps  = {GPSTAGS.get(k, k): v for k, v in exif['GPSInfo'].items()}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def dms_decimal(dms, ref):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dec = dms[0] + dms[1]/60 + dms[2]/3600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return -dec if ref in ('S', 'W') else dec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lat = dms_decimal(gps['GPSLatitude'],  gps['GPSLatitudeRef'])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lon = dms_decimal(gps['GPSLongitude'], gps['GPSLongitudeRef'])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lat, lon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lat, lon = extraer_gps('foto_sospechoso.jpg')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print(f'Ubicación: {lat:.6f}, {lon:.6f}')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print(f'Ver en mapa: https://maps.google.com/?q={lat},{lon}')</a:t>
            </a:r>
            <a:endParaRPr lang="es-E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exif_parser.py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completa de metadatos EXIF e coordenadas GPS con Pillow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79576"/>
            <a:ext cx="53035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1252728"/>
            <a:ext cx="502920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PIL.ExifTags import TAGS, GPSTAGS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extraer_exif(ruta_imagen):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img  = Image.open(ruta_imagen)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data = img._getexif()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not data: return {}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{TAGS.get(k, k): v for k, v in data.items()}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gps_a_decimal(coords, ref):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grados, minutos, segundos = coords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decimal = grados + minutos/60 + segundos/3600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-decimal if ref in ["S", "W"] else decimal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extraer_gps(exif):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gps_raw = exif.get("GPSInfo", {})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gps = {GPSTAGS.get(k, k): v for k, v in gps_raw.items()}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lat = gps_a_decimal(gps["GPSLatitude"], gps["GPSLatitudeRef"])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lon = gps_a_decimal(gps["GPSLongitude"], gps["GPSLongitudeRef"])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lat, lon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1179576"/>
            <a:ext cx="301752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806440" y="1179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del script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06440" y="1472184"/>
            <a:ext cx="301752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43600" y="1545336"/>
            <a:ext cx="27432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METADATOS EXIF ===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Make:  Apple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iPhone 14 Pro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DateTime: 2024:03:15 14:23:01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 Latitud:  40.4168°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 Longitud: -3.7038° 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Google Maps: 40.4168,-3.7038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3191256"/>
            <a:ext cx="301752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94360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3557016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Pillow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prueba con GPS:
</a:t>
            </a:r>
            <a:endParaRPr lang="en-US" sz="900" dirty="0"/>
          </a:p>
          <a:p>
            <a:pPr marL="0" indent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github.com/ianare/exif-samples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4718304"/>
            <a:ext cx="850392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57200" y="47183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Verificar resultados con ExifTool (Phil Harvey) — herramienta de referencia para contraste forense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DMS a Decimal — Convertir Coordenadas GPS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Las coordenadas EXIF vienen en grados, minutos y segundos (DMS)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Box7"/>
          <p:cNvSpPr/>
          <p:nvPr/>
        </p:nvSpPr>
        <p:spPr>
          <a:xfrm>
            <a:off x="228600" y="1186776"/>
            <a:ext cx="8686800" cy="9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300" b="1" dirty="0">
                <a:solidFill>
                  <a:srgbClr val="0F172A"/>
                </a:solidFill>
                <a:latin typeface="Calibri" pitchFamily="34" charset="0"/>
              </a:rPr>
              <a:t>Fórmula de conversión DMS → Decimal:</a:t>
            </a:r>
            <a:endParaRPr lang="es-ES" dirty="0"/>
          </a:p>
          <a:p>
            <a:pPr marL="0" indent="0" algn="ctr">
              <a:buNone/>
            </a:pPr>
            <a:r>
              <a:rPr lang="es-ES" sz="1400" b="1" dirty="0">
                <a:solidFill>
                  <a:srgbClr val="0E7490"/>
                </a:solidFill>
                <a:latin typeface="Courier New" pitchFamily="34" charset="0"/>
              </a:rPr>
              <a:t>Decimal  =  Grados  +  (Minutos / 60)  +  (Segundos / 3600)</a:t>
            </a:r>
            <a:endParaRPr lang="es-ES" dirty="0"/>
          </a:p>
        </p:txBody>
      </p:sp>
      <p:sp>
        <p:nvSpPr>
          <p:cNvPr id="8" name="Code"/>
          <p:cNvSpPr/>
          <p:nvPr/>
        </p:nvSpPr>
        <p:spPr>
          <a:xfrm>
            <a:off x="320040" y="2267711"/>
            <a:ext cx="8503960" cy="265228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Coordenada GPS en formato DMS (grados, minutos, segundos):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Latitud: 40° 25' 46.5" N  →  ciudad: Madrid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grados  = 40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minutos = 25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segundos = 46.5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referencia = 'N'   # N/S para latitud, E/W para longitud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decimal = grados + minutos/60 + segundos/3600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if referencia in ('S', 'W'):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decimal = -decimal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print(f'Latitud decimal: {decimal:.6f}')   # → 40.429583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En el script EXIF, los valores ya vienen como tuplas: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gps['GPSLatitude'] = (40, 25, 46.5)  →  aplica la misma fórmula</a:t>
            </a:r>
            <a:endParaRPr lang="es-E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Salida de exif_parser.py — Ejemplo Real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Metadatos extraídos de una imagen con GPS usando el script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430000"/>
            <a:ext cx="8503960" cy="35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$ python exif_parser.py foto_sospechoso.jpg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DateTimeOriginal          : 2024-03-15 08:17:01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Make                      : Apple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Model                     : iPhone 14 Pro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Software                  : 16.3.1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ExifImageWidth            : 4032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ExifImageHeight           : 3024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FocalLength               : 6.86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ISOSpeedRatings           : 50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Ubicación GPS: 40.429583, -3.679722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Ver en mapa  : https://maps.google.com/?q=40.429583,-3.679722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CSV generado: exif_resultados.csv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Columnas: archivo, DateTimeOriginal, Make, Model, GPS_lat, GPS_lon, GPS_url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320040" y="5010000"/>
            <a:ext cx="8503960" cy="36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000" i="1" dirty="0">
                <a:solidFill>
                  <a:srgbClr val="64748B"/>
                </a:solidFill>
                <a:latin typeface="Calibri" pitchFamily="34" charset="0"/>
              </a:rPr>
              <a:t>💡  Tip forense: verificar los resultados con ExifTool (Phil Harvey) — es la referencia de facto para metadatos EXIF en cualquier laboratorio.</a:t>
            </a:r>
            <a:endParaRPr lang="es-E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Logs con 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Indexación · Expresiones regulares · Detección de anomalías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Log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51206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simulado — sistema.log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1673352"/>
            <a:ext cx="4846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2024-03-15 08:12:33 INFO  [auth]   Usuario admin ha iniciado sesión desde 192.168.1.101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2024-03-15 08:17:01 WARN  [net]    Conexión saliente a 185.220.101.45:443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2024-03-15 08:17:05 ERROR [system] Fallo de acceso a /etc/shadow por usuario admin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2024-03-15 08:25:50 WARN  [usb]    Dispositivo USB conectado: Vendor=0930 Product=6545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2024-03-15 08:26:03 INFO  [file]   Archivo /tmp/c.docx copiado a /media/usb/c.docx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512064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0040" y="3017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log_analyzer.py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291840"/>
            <a:ext cx="51206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7200" y="3364992"/>
            <a:ext cx="48463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PATRON = r"(?P&lt;fecha&gt;\d{4}-\d{2}-\d{2})\s+(?P&lt;hora&gt;\d{2}:\d{2}:\d{2})\s+(?P&lt;nivel&gt;\w+)\s+\[(?P&lt;modulo&gt;\w+)\]\s+(?P&lt;mensaje&gt;.+)"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analizar_log(ruta):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niveles = Counter()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with open(ruta) as f: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for linea in f: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m = re.match(PATRON, linea)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if m: niveles[m.group('nivel')] +=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niveles.most_common()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23560" y="1325880"/>
            <a:ext cx="3200400" cy="1371600"/>
          </a:xfrm>
          <a:prstGeom prst="rect">
            <a:avLst/>
          </a:prstGeom>
          <a:solidFill>
            <a:srgbClr val="0F172A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760720" y="1389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forense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185.220.101.45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nodo de salida Tor conocido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6072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en /etc/shadow + copia a USB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exfiltración de datos vía USB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2834640"/>
            <a:ext cx="3200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623560" y="2834640"/>
            <a:ext cx="50292" cy="1965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715000" y="28803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Indexación forense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320040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 visión completa del log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búsqueda de palabras clave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→ frecuencia de niveles (INFO, WARN, ERROR)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cruzar IPs contra listas negras (TorProject, AbuseIPDB)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Anatomía de una Línea de Log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Entender la estructura antes de escribir la expresión regular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Box7"/>
          <p:cNvSpPr/>
          <p:nvPr/>
        </p:nvSpPr>
        <p:spPr>
          <a:xfrm>
            <a:off x="232001" y="1201750"/>
            <a:ext cx="8686800" cy="5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100" b="1" dirty="0">
                <a:solidFill>
                  <a:srgbClr val="A5F3FC"/>
                </a:solidFill>
                <a:latin typeface="Courier New" pitchFamily="34" charset="0"/>
              </a:rPr>
              <a:t>2024-03-15  08:17:01  WARN  [net]  Conexión saliente a 185.220.101.45:443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232001" y="1871750"/>
            <a:ext cx="1520000" cy="14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0E7490"/>
                </a:solidFill>
                <a:latin typeface="Calibri" pitchFamily="34" charset="0"/>
              </a:rPr>
              <a:t>FECHA</a:t>
            </a:r>
            <a:endParaRPr lang="es-ES" dirty="0"/>
          </a:p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2024-03-15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1846923" y="1871750"/>
            <a:ext cx="1520000" cy="14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0E7490"/>
                </a:solidFill>
                <a:latin typeface="Calibri" pitchFamily="34" charset="0"/>
              </a:rPr>
              <a:t>HORA</a:t>
            </a:r>
            <a:endParaRPr lang="es-ES" dirty="0"/>
          </a:p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08:17:01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3417402" y="1881750"/>
            <a:ext cx="1520000" cy="14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991B1B"/>
                </a:solidFill>
                <a:latin typeface="Calibri" pitchFamily="34" charset="0"/>
              </a:rPr>
              <a:t>NIVEL</a:t>
            </a:r>
            <a:endParaRPr lang="es-ES" dirty="0"/>
          </a:p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WARN / ERROR / INFO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4973401" y="1871750"/>
            <a:ext cx="1520000" cy="14000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7C3AED"/>
                </a:solidFill>
                <a:latin typeface="Calibri" pitchFamily="34" charset="0"/>
              </a:rPr>
              <a:t>MÓDULO</a:t>
            </a:r>
            <a:endParaRPr lang="es-ES" dirty="0"/>
          </a:p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[net] [auth] [file]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6543879" y="1871750"/>
            <a:ext cx="2371521" cy="14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1D4ED8"/>
                </a:solidFill>
                <a:latin typeface="Calibri" pitchFamily="34" charset="0"/>
              </a:rPr>
              <a:t>MENSAJE</a:t>
            </a:r>
            <a:endParaRPr lang="es-ES" dirty="0"/>
          </a:p>
          <a:p>
            <a:pPr marL="0" indent="0" algn="ctr">
              <a:buNone/>
            </a:pPr>
            <a:r>
              <a:rPr lang="es-ES" sz="950" dirty="0">
                <a:solidFill>
                  <a:srgbClr val="1E293B"/>
                </a:solidFill>
                <a:latin typeface="Courier New" pitchFamily="34" charset="0"/>
              </a:rPr>
              <a:t>Texto libre con IP/ruta</a:t>
            </a:r>
            <a:endParaRPr lang="es-ES" dirty="0"/>
          </a:p>
        </p:txBody>
      </p:sp>
      <p:sp>
        <p:nvSpPr>
          <p:cNvPr id="13" name="Box13"/>
          <p:cNvSpPr/>
          <p:nvPr/>
        </p:nvSpPr>
        <p:spPr>
          <a:xfrm>
            <a:off x="232001" y="3391750"/>
            <a:ext cx="8686800" cy="6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Patrón regex:</a:t>
            </a:r>
            <a:endParaRPr lang="es-ES" dirty="0"/>
          </a:p>
          <a:p>
            <a:pPr marL="0" indent="0" algn="l">
              <a:buNone/>
            </a:pPr>
            <a:r>
              <a:rPr lang="es-ES" sz="900" dirty="0">
                <a:solidFill>
                  <a:srgbClr val="1E293B"/>
                </a:solidFill>
                <a:latin typeface="Courier New" pitchFamily="34" charset="0"/>
              </a:rPr>
              <a:t>(?P&lt;fecha&gt;\d{4}-\d{2}-\d{2})\s+(?P&lt;hora&gt;\d{2}:\d{2}:\d{2})\s+(?P&lt;nivel&gt;\w+)\s+\[(?P&lt;modulo&gt;\w+)\]\s+(?P&lt;mensaje&gt;.+)</a:t>
            </a:r>
            <a:endParaRPr lang="es-ES" dirty="0"/>
          </a:p>
        </p:txBody>
      </p:sp>
      <p:sp>
        <p:nvSpPr>
          <p:cNvPr id="14" name="Box14"/>
          <p:cNvSpPr/>
          <p:nvPr/>
        </p:nvSpPr>
        <p:spPr>
          <a:xfrm>
            <a:off x="228600" y="4330000"/>
            <a:ext cx="8686800" cy="500000"/>
          </a:xfrm>
          <a:prstGeom prst="rect">
            <a:avLst/>
          </a:prstGeom>
          <a:noFill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000" i="1" dirty="0">
                <a:solidFill>
                  <a:srgbClr val="64748B"/>
                </a:solidFill>
                <a:latin typeface="Calibri" pitchFamily="34" charset="0"/>
              </a:rPr>
              <a:t>Los grupos nombrados (?P&lt;nombre&gt;) permiten acceder a cada parte por nombre: m.group('fecha'), m.group('nivel'), etc.</a:t>
            </a:r>
            <a:endParaRPr lang="es-E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Expresión Regular del Log — Desglose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Entender cada componente del patrón regex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Box7"/>
          <p:cNvSpPr/>
          <p:nvPr/>
        </p:nvSpPr>
        <p:spPr>
          <a:xfrm>
            <a:off x="228600" y="1307593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900" b="1" dirty="0">
                <a:solidFill>
                  <a:srgbClr val="06B6D4"/>
                </a:solidFill>
                <a:latin typeface="Courier New" pitchFamily="34" charset="0"/>
              </a:rPr>
              <a:t>(?P&lt;fecha&gt;\d{4}-\d{2}-\d{2})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3800000" y="1307593"/>
            <a:ext cx="1100000" cy="470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fecha</a:t>
            </a:r>
            <a:endParaRPr lang="es-ES" dirty="0"/>
          </a:p>
        </p:txBody>
      </p:sp>
      <p:sp>
        <p:nvSpPr>
          <p:cNvPr id="9" name="Box9"/>
          <p:cNvSpPr/>
          <p:nvPr/>
        </p:nvSpPr>
        <p:spPr>
          <a:xfrm>
            <a:off x="5000000" y="1307593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4 dígitos - 2 dígitos - 2 dígitos</a:t>
            </a:r>
            <a:endParaRPr lang="es-ES" dirty="0"/>
          </a:p>
        </p:txBody>
      </p:sp>
      <p:sp>
        <p:nvSpPr>
          <p:cNvPr id="10" name="Box10"/>
          <p:cNvSpPr/>
          <p:nvPr/>
        </p:nvSpPr>
        <p:spPr>
          <a:xfrm>
            <a:off x="228600" y="1807593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900" b="1" dirty="0">
                <a:solidFill>
                  <a:srgbClr val="0891B5"/>
                </a:solidFill>
                <a:latin typeface="Courier New" pitchFamily="34" charset="0"/>
              </a:rPr>
              <a:t>\s+</a:t>
            </a:r>
            <a:endParaRPr lang="es-ES" dirty="0"/>
          </a:p>
        </p:txBody>
      </p:sp>
      <p:sp>
        <p:nvSpPr>
          <p:cNvPr id="11" name="Box11"/>
          <p:cNvSpPr/>
          <p:nvPr/>
        </p:nvSpPr>
        <p:spPr>
          <a:xfrm>
            <a:off x="3800000" y="1807593"/>
            <a:ext cx="1100000" cy="470000"/>
          </a:xfrm>
          <a:prstGeom prst="rect">
            <a:avLst/>
          </a:prstGeom>
          <a:solidFill>
            <a:srgbClr val="0891B5"/>
          </a:solidFill>
          <a:ln w="12700">
            <a:solidFill>
              <a:srgbClr val="0891B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sep</a:t>
            </a:r>
            <a:endParaRPr lang="es-ES" dirty="0"/>
          </a:p>
        </p:txBody>
      </p:sp>
      <p:sp>
        <p:nvSpPr>
          <p:cNvPr id="12" name="Box12"/>
          <p:cNvSpPr/>
          <p:nvPr/>
        </p:nvSpPr>
        <p:spPr>
          <a:xfrm>
            <a:off x="5000000" y="1807593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Uno o más espacios en blanco</a:t>
            </a:r>
            <a:endParaRPr lang="es-ES" dirty="0"/>
          </a:p>
        </p:txBody>
      </p:sp>
      <p:sp>
        <p:nvSpPr>
          <p:cNvPr id="13" name="Box13"/>
          <p:cNvSpPr/>
          <p:nvPr/>
        </p:nvSpPr>
        <p:spPr>
          <a:xfrm>
            <a:off x="228600" y="2307593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900" b="1" dirty="0">
                <a:solidFill>
                  <a:srgbClr val="0E7490"/>
                </a:solidFill>
                <a:latin typeface="Courier New" pitchFamily="34" charset="0"/>
              </a:rPr>
              <a:t>(?P&lt;hora&gt;\d{2}:\d{2}:\d{2})</a:t>
            </a:r>
            <a:endParaRPr lang="es-ES" dirty="0"/>
          </a:p>
        </p:txBody>
      </p:sp>
      <p:sp>
        <p:nvSpPr>
          <p:cNvPr id="14" name="Box14"/>
          <p:cNvSpPr/>
          <p:nvPr/>
        </p:nvSpPr>
        <p:spPr>
          <a:xfrm>
            <a:off x="3800000" y="2307593"/>
            <a:ext cx="1100000" cy="470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hora</a:t>
            </a:r>
            <a:endParaRPr lang="es-ES" dirty="0"/>
          </a:p>
        </p:txBody>
      </p:sp>
      <p:sp>
        <p:nvSpPr>
          <p:cNvPr id="15" name="Box15"/>
          <p:cNvSpPr/>
          <p:nvPr/>
        </p:nvSpPr>
        <p:spPr>
          <a:xfrm>
            <a:off x="5000000" y="2307593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HH:MM:SS  (2 dígitos cada uno)</a:t>
            </a:r>
            <a:endParaRPr lang="es-ES" dirty="0"/>
          </a:p>
        </p:txBody>
      </p:sp>
      <p:sp>
        <p:nvSpPr>
          <p:cNvPr id="16" name="Box16"/>
          <p:cNvSpPr/>
          <p:nvPr/>
        </p:nvSpPr>
        <p:spPr>
          <a:xfrm>
            <a:off x="228600" y="2807593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900" b="1" dirty="0">
                <a:solidFill>
                  <a:srgbClr val="7C3AED"/>
                </a:solidFill>
                <a:latin typeface="Courier New" pitchFamily="34" charset="0"/>
              </a:rPr>
              <a:t>\s+(?P&lt;nivel&gt;\w+)</a:t>
            </a:r>
            <a:endParaRPr lang="es-ES" dirty="0"/>
          </a:p>
        </p:txBody>
      </p:sp>
      <p:sp>
        <p:nvSpPr>
          <p:cNvPr id="17" name="Box17"/>
          <p:cNvSpPr/>
          <p:nvPr/>
        </p:nvSpPr>
        <p:spPr>
          <a:xfrm>
            <a:off x="3800000" y="2807593"/>
            <a:ext cx="1100000" cy="47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nivel</a:t>
            </a:r>
            <a:endParaRPr lang="es-ES" dirty="0"/>
          </a:p>
        </p:txBody>
      </p:sp>
      <p:sp>
        <p:nvSpPr>
          <p:cNvPr id="18" name="Box18"/>
          <p:cNvSpPr/>
          <p:nvPr/>
        </p:nvSpPr>
        <p:spPr>
          <a:xfrm>
            <a:off x="5000000" y="2807593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Una o más letras/dígitos (INFO, WARN...)</a:t>
            </a:r>
            <a:endParaRPr lang="es-ES" dirty="0"/>
          </a:p>
        </p:txBody>
      </p:sp>
      <p:sp>
        <p:nvSpPr>
          <p:cNvPr id="19" name="Box19"/>
          <p:cNvSpPr/>
          <p:nvPr/>
        </p:nvSpPr>
        <p:spPr>
          <a:xfrm>
            <a:off x="228600" y="3307593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900" b="1" dirty="0">
                <a:solidFill>
                  <a:srgbClr val="1D4ED8"/>
                </a:solidFill>
                <a:latin typeface="Courier New" pitchFamily="34" charset="0"/>
              </a:rPr>
              <a:t>\s+\[(?P&lt;modulo&gt;\w+)\]</a:t>
            </a:r>
            <a:endParaRPr lang="es-ES" dirty="0"/>
          </a:p>
        </p:txBody>
      </p:sp>
      <p:sp>
        <p:nvSpPr>
          <p:cNvPr id="20" name="Box20"/>
          <p:cNvSpPr/>
          <p:nvPr/>
        </p:nvSpPr>
        <p:spPr>
          <a:xfrm>
            <a:off x="3800000" y="3307593"/>
            <a:ext cx="1100000" cy="470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modulo</a:t>
            </a:r>
            <a:endParaRPr lang="es-ES" dirty="0"/>
          </a:p>
        </p:txBody>
      </p:sp>
      <p:sp>
        <p:nvSpPr>
          <p:cNvPr id="21" name="Box21"/>
          <p:cNvSpPr/>
          <p:nvPr/>
        </p:nvSpPr>
        <p:spPr>
          <a:xfrm>
            <a:off x="5000000" y="3307593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Texto entre corchetes [net] [auth]</a:t>
            </a:r>
            <a:endParaRPr lang="es-ES" dirty="0"/>
          </a:p>
        </p:txBody>
      </p:sp>
      <p:sp>
        <p:nvSpPr>
          <p:cNvPr id="22" name="Box22"/>
          <p:cNvSpPr/>
          <p:nvPr/>
        </p:nvSpPr>
        <p:spPr>
          <a:xfrm>
            <a:off x="228600" y="3807593"/>
            <a:ext cx="3500000" cy="4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900" b="1" dirty="0">
                <a:solidFill>
                  <a:srgbClr val="0F172A"/>
                </a:solidFill>
                <a:latin typeface="Courier New" pitchFamily="34" charset="0"/>
              </a:rPr>
              <a:t>\s+(?P&lt;mensaje&gt;.+)</a:t>
            </a:r>
            <a:endParaRPr lang="es-ES" dirty="0"/>
          </a:p>
        </p:txBody>
      </p:sp>
      <p:sp>
        <p:nvSpPr>
          <p:cNvPr id="23" name="Box23"/>
          <p:cNvSpPr/>
          <p:nvPr/>
        </p:nvSpPr>
        <p:spPr>
          <a:xfrm>
            <a:off x="3800000" y="3807593"/>
            <a:ext cx="1100000" cy="47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mensaje</a:t>
            </a:r>
            <a:endParaRPr lang="es-ES" dirty="0"/>
          </a:p>
        </p:txBody>
      </p:sp>
      <p:sp>
        <p:nvSpPr>
          <p:cNvPr id="24" name="Box24"/>
          <p:cNvSpPr/>
          <p:nvPr/>
        </p:nvSpPr>
        <p:spPr>
          <a:xfrm>
            <a:off x="5000000" y="3807593"/>
            <a:ext cx="3913960" cy="4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es-ES" sz="1000" dirty="0">
                <a:solidFill>
                  <a:srgbClr val="1E293B"/>
                </a:solidFill>
                <a:latin typeface="Calibri" pitchFamily="34" charset="0"/>
              </a:rPr>
              <a:t>Cualquier carácter hasta fin de línea</a:t>
            </a:r>
            <a:endParaRPr lang="es-E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log_analyzer.py — Código Completo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Script listo para analizar cualquier fichero de log con el formato definido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097285"/>
            <a:ext cx="8503960" cy="3862715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re, sys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from collections import Counter</a:t>
            </a:r>
            <a:endParaRPr lang="es-ES" sz="900" dirty="0">
              <a:solidFill>
                <a:srgbClr val="E2E8F0"/>
              </a:solidFill>
              <a:latin typeface="Courier New" pitchFamily="34" charset="0"/>
            </a:endParaRPr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PATRON_LOG = re.compile(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r'(?P&lt;fecha&gt;\d{4}-\d{2}-\d{2})'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r'\s+(?P&lt;hora&gt;\d{2}:\d{2}:\d{2})'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r'\s+(?P&lt;nivel&gt;\w+)'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r'\s+\[(?P&lt;modulo&gt;\w+)\]'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r'\s+(?P&lt;mensaje&gt;.+)'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PATRON_IP = re.compile(r'\b(\d{1,3}\.\d{1,3}\.\d{1,3}\.\d{1,3})\b')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parsear_log(ruta):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eventos = []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with open(ruta, encoding='utf-8') as f: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for linea in f: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m = PATRON_LOG.match(linea.strip())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    if m: eventos.append(m.groupdict())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</a:t>
            </a:r>
            <a:r>
              <a:rPr lang="en-US" sz="900" dirty="0" err="1">
                <a:solidFill>
                  <a:srgbClr val="E2E8F0"/>
                </a:solidFill>
                <a:latin typeface="Courier New" pitchFamily="34" charset="0"/>
              </a:rPr>
              <a:t>eventos</a:t>
            </a:r>
            <a:endParaRPr lang="es-ES" sz="900" dirty="0">
              <a:solidFill>
                <a:srgbClr val="E2E8F0"/>
              </a:solidFill>
              <a:latin typeface="Courier New" pitchFamily="34" charset="0"/>
            </a:endParaRPr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analizar(eventos):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niveles  = Counter(e['nivel']   for e in eventos)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criticos = [e for e in eventos if e['nivel'] in ('ERROR','WARN')]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ips      = {ip for e in eventos for ip in PATRON_IP.findall(e['mensaje'])}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return niveles, criticos, ips</a:t>
            </a:r>
            <a:endParaRPr lang="es-E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Resultado del Análisis de Logs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Salida del script aplicado al log simulado del ejercicio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e"/>
          <p:cNvSpPr/>
          <p:nvPr/>
        </p:nvSpPr>
        <p:spPr>
          <a:xfrm>
            <a:off x="320040" y="1262641"/>
            <a:ext cx="5700000" cy="35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$ python log_analyzer.py evidencias_usb/logs/sistema.log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[*] Total eventos: 8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[+] Distribución por nivel: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INFO    : 5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WARN    : 2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ERROR   : 1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[!] Eventos críticos (WARN / ERROR):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2024-03-15 08:17:01 [WARN]  Conexión saliente a 185.220.101.45:443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2024-03-15 08:17:05 [ERROR] Fallo de acceso a /etc/shadow por usuario admin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2024-03-15 08:25:50 [WARN]  Dispositivo USB conectado: Vendor=0930 Product=6545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[+] IPs detectadas en el log: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185.220.101.45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192.168.1.101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6100000" y="1262641"/>
            <a:ext cx="2823960" cy="35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Interpretación forense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s-ES" sz="1000" b="1" dirty="0">
                <a:solidFill>
                  <a:srgbClr val="991B1B"/>
                </a:solidFill>
                <a:latin typeface="Courier New" pitchFamily="34" charset="0"/>
              </a:rPr>
              <a:t>185.220.101.45</a:t>
            </a:r>
            <a:endParaRPr lang="es-ES" dirty="0"/>
          </a:p>
          <a:p>
            <a:pPr marL="0" indent="0" algn="l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Nodo de salida Tor conocido. Conexión saliente sospechosa.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s-ES" sz="1000" b="1" dirty="0">
                <a:solidFill>
                  <a:srgbClr val="991B1B"/>
                </a:solidFill>
                <a:latin typeface="Courier New" pitchFamily="34" charset="0"/>
              </a:rPr>
              <a:t>Acceso a /etc/shadow</a:t>
            </a:r>
            <a:endParaRPr lang="es-ES" dirty="0"/>
          </a:p>
          <a:p>
            <a:pPr marL="0" indent="0" algn="l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Intento de leer contraseñas del sistema. Posible escalada de privilegios.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s-ES" sz="1000" b="1" dirty="0">
                <a:solidFill>
                  <a:srgbClr val="991B1B"/>
                </a:solidFill>
                <a:latin typeface="Courier New" pitchFamily="34" charset="0"/>
              </a:rPr>
              <a:t>USB conectado</a:t>
            </a:r>
            <a:endParaRPr lang="es-ES" dirty="0"/>
          </a:p>
          <a:p>
            <a:pPr marL="0" indent="0" algn="l">
              <a:buNone/>
            </a:pPr>
            <a:r>
              <a:rPr lang="es-ES" sz="950" dirty="0">
                <a:solidFill>
                  <a:srgbClr val="1E293B"/>
                </a:solidFill>
                <a:latin typeface="Calibri" pitchFamily="34" charset="0"/>
              </a:rPr>
              <a:t>Posible exfiltración de datos al dispositivo externo.</a:t>
            </a:r>
            <a:endParaRPr lang="es-E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2200" b="1" dirty="0">
                <a:solidFill>
                  <a:srgbClr val="0F172A"/>
                </a:solidFill>
                <a:latin typeface="Calibri" pitchFamily="34" charset="0"/>
              </a:rPr>
              <a:t>Ampliación: Detección de Nodos Tor</a:t>
            </a:r>
            <a:endParaRPr lang="es-ES" dirty="0"/>
          </a:p>
        </p:txBody>
      </p:sp>
      <p:sp>
        <p:nvSpPr>
          <p:cNvPr id="4" name="Subtitle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1100" i="1" dirty="0">
                <a:solidFill>
                  <a:srgbClr val="0E7490"/>
                </a:solidFill>
                <a:latin typeface="Calibri" pitchFamily="34" charset="0"/>
              </a:rPr>
              <a:t>Cruzar IPs extraídas contra listas de inteligencia de amenazas</a:t>
            </a:r>
            <a:endParaRPr lang="es-ES" dirty="0"/>
          </a:p>
        </p:txBody>
      </p:sp>
      <p:sp>
        <p:nvSpPr>
          <p:cNvPr id="5" name="Line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ag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solidFill>
            <a:srgbClr val="06B6D4"/>
          </a:solidFill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5.3 Threat Intel</a:t>
            </a:r>
            <a:endParaRPr lang="es-ES" dirty="0"/>
          </a:p>
        </p:txBody>
      </p:sp>
      <p:sp>
        <p:nvSpPr>
          <p:cNvPr id="7" name="Box7"/>
          <p:cNvSpPr/>
          <p:nvPr/>
        </p:nvSpPr>
        <p:spPr>
          <a:xfrm>
            <a:off x="228600" y="1430000"/>
            <a:ext cx="4200000" cy="12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¿Por qué importa la IP 185.220.101.45?</a:t>
            </a:r>
            <a:endParaRPr lang="es-ES" dirty="0"/>
          </a:p>
          <a:p>
            <a:pPr marL="0" indent="0" algn="l">
              <a:buNone/>
            </a:pPr>
            <a:r>
              <a:rPr lang="es-ES" sz="1050" dirty="0">
                <a:solidFill>
                  <a:srgbClr val="1E293B"/>
                </a:solidFill>
                <a:latin typeface="Calibri" pitchFamily="34" charset="0"/>
              </a:rPr>
              <a:t>Es un nodo de salida de la red Tor. El tráfico a esta IP sugiere que alguien intentaba anonimizar su actividad.</a:t>
            </a:r>
            <a:endParaRPr lang="es-ES" dirty="0"/>
          </a:p>
        </p:txBody>
      </p:sp>
      <p:sp>
        <p:nvSpPr>
          <p:cNvPr id="8" name="Box8"/>
          <p:cNvSpPr/>
          <p:nvPr/>
        </p:nvSpPr>
        <p:spPr>
          <a:xfrm>
            <a:off x="4600000" y="1430000"/>
            <a:ext cx="4314000" cy="12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s-ES" sz="1200" b="1" dirty="0">
                <a:solidFill>
                  <a:srgbClr val="0F172A"/>
                </a:solidFill>
                <a:latin typeface="Calibri" pitchFamily="34" charset="0"/>
              </a:rPr>
              <a:t>Fuentes de inteligencia abiertas (OSINT)</a:t>
            </a:r>
            <a:endParaRPr lang="es-ES" dirty="0"/>
          </a:p>
          <a:p>
            <a:pPr marL="0" indent="0" algn="l">
              <a:buNone/>
            </a:pPr>
            <a:r>
              <a:rPr lang="es-ES" sz="1050" dirty="0">
                <a:solidFill>
                  <a:srgbClr val="1E293B"/>
                </a:solidFill>
                <a:latin typeface="Calibri" pitchFamily="34" charset="0"/>
              </a:rPr>
              <a:t>• TorProject exit nodes list
• AbuseIPDB
• Shodan
• VirusTotal IP lookup</a:t>
            </a:r>
            <a:endParaRPr lang="es-ES" dirty="0"/>
          </a:p>
        </p:txBody>
      </p:sp>
      <p:sp>
        <p:nvSpPr>
          <p:cNvPr id="9" name="Code"/>
          <p:cNvSpPr/>
          <p:nvPr/>
        </p:nvSpPr>
        <p:spPr>
          <a:xfrm>
            <a:off x="228600" y="2750000"/>
            <a:ext cx="8686800" cy="22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Ampliación: cruzar IPs con lista negra de nodos Tor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</a:rPr>
              <a:t># (requiere conexión a internet en el entorno de análisis)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import urllib.request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TOR_EXIT_URL = 'https://check.torproject.org/torbulkexitlist'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</a:rPr>
              <a:t>def cargar_nodos_tor():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with urllib.request.urlopen(TOR_EXIT_URL) as r: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return set(r.read().decode().splitlines())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nodos_tor = cargar_nodos_tor()</a:t>
            </a:r>
            <a:endParaRPr lang="es-ES" dirty="0"/>
          </a:p>
          <a:p>
            <a:pPr marL="0" indent="0" algn="l">
              <a:buNone/>
            </a:pP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>for ip in ips_detectadas: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if ip in nodos_tor: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print(f'[!] ALERTA: {ip} es nodo de salida Tor')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else:</a:t>
            </a:r>
            <a:endParaRPr lang="es-ES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</a:rPr>
              <a:t xml:space="preserve">        print(f'[*] IP sin clasificar: {ip}')</a:t>
            </a:r>
            <a:endParaRPr lang="es-E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JORNADA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hemos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aprendido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hoy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93192" y="13258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138988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la informática forense: fases, cadena de custodia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93192" y="210312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216712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 de nombrado forense en Python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93192" y="288036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" y="294436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desarrollo forense (Identificar → Planificar → Programar → Validar)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93192" y="365760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" y="372160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forense con os.walk, os.stat y exportación CSV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54880" y="132588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28032" y="13258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38928" y="138988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MD5 y SHA-256 con hashlib para integridad de evidencias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754880" y="210312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28032" y="210312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38928" y="216712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con salt para análisis de contraseñas almacenadas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754880" y="288036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28032" y="288036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38928" y="294436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metadatos EXIF con Pillow, incluyendo GPS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65760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828032" y="365760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38928" y="372160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y análisis de logs con regex y Counter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— Jornada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contenidos de la formación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50292" cy="1371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y serialización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240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serializadas — Capítulo 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5029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9184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0128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con Python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2240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forenses — Capítulo 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3258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50292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17220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0488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binarios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2240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UserAssist, struct, extracción binaria — Capítulo 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5029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11480" y="3017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9768" y="3611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forenses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" y="39319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temporal de evidencias — Capítulo 9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301752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17720" y="3017520"/>
            <a:ext cx="50292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709160" y="3017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727448" y="3611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con psutil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27448" y="39319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rápido de sistemas en vivo — Capítulo 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"Learning Python for Forensics" Miller &amp; Bryce (Packt 2019)  ·  tutorialspoint.com/</a:t>
            </a:r>
            <a:r>
              <a:rPr lang="en-US" sz="850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python_forensics</a:t>
            </a: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 — Librerías Python para DFIR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que se usarán a lo largo de la formación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1709928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709928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hashlib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18488" y="1819656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618488" y="18196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21992" y="1709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MD5, SHA-256 de archivos y datos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0" y="1709928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200400" y="1709928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291840" y="17099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98848" y="1819656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498848" y="18196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102352" y="1709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EXIF, GPS, metadatos visuales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80760" y="1709928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080760" y="1709928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172200" y="17099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/ pathlib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79208" y="1819656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379208" y="18196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982712" y="1709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Inventario, stat, recorrido de directorios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228600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20040" y="2286000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11480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18488" y="2395728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1618488" y="23957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221992" y="228600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evidencias en formato tabular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00400" y="228600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3200400" y="2286000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291840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98848" y="2395728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498848" y="23957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02352" y="228600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con expresiones regulares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80760" y="228600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6080760" y="2286000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172200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79208" y="2395728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379208" y="23957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982712" y="228600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Counter, defaultdict para estadísticas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286207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320040" y="2862072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11480" y="28620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18488" y="2971800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1618488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221992" y="2862072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JSON — Jornada 2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00400" y="286207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3200400" y="2862072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3291840" y="28620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98848" y="2971800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4498848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02352" y="2862072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forenses SQLite — Jornada 2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080760" y="286207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6080760" y="2862072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6172200" y="28620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79208" y="2971800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7379208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982712" y="2862072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artefactos binarios — Jornada 2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20040" y="3438144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59"/>
          <p:cNvSpPr/>
          <p:nvPr/>
        </p:nvSpPr>
        <p:spPr>
          <a:xfrm>
            <a:off x="320040" y="3438144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411480" y="343814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psutil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618488" y="3547872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1618488" y="35478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221992" y="3438144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Procesos, conexiones, memoria en vivo — J2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0" y="3438144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Shape 65"/>
          <p:cNvSpPr/>
          <p:nvPr/>
        </p:nvSpPr>
        <p:spPr>
          <a:xfrm>
            <a:off x="3200400" y="3438144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3291840" y="343814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python-registry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498848" y="3547872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4498848" y="35478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102352" y="3438144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Registro de Windows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080760" y="3438144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Shape 71"/>
          <p:cNvSpPr/>
          <p:nvPr/>
        </p:nvSpPr>
        <p:spPr>
          <a:xfrm>
            <a:off x="6080760" y="3438144"/>
            <a:ext cx="36576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6172200" y="343814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mutagen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379208" y="3547872"/>
            <a:ext cx="566928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Text 74"/>
          <p:cNvSpPr/>
          <p:nvPr/>
        </p:nvSpPr>
        <p:spPr>
          <a:xfrm>
            <a:off x="7379208" y="35478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Audio/Video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7982712" y="3438144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de archivos multimedia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cias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BottomBar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itleGracias"/>
          <p:cNvSpPr/>
          <p:nvPr/>
        </p:nvSpPr>
        <p:spPr>
          <a:xfrm>
            <a:off x="457200" y="48006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8000" b="1" dirty="0">
                <a:solidFill>
                  <a:srgbClr val="FFFFFF"/>
                </a:solidFill>
                <a:latin typeface="Calibri" pitchFamily="34" charset="0"/>
              </a:rPr>
              <a:t>GRACIAS</a:t>
            </a:r>
          </a:p>
        </p:txBody>
      </p:sp>
      <p:sp>
        <p:nvSpPr>
          <p:cNvPr id="5" name="Separator"/>
          <p:cNvSpPr/>
          <p:nvPr/>
        </p:nvSpPr>
        <p:spPr>
          <a:xfrm>
            <a:off x="3200400" y="2149860"/>
            <a:ext cx="2743200" cy="381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NombreTexto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2800" b="1" dirty="0">
                <a:solidFill>
                  <a:srgbClr val="FFFFFF"/>
                </a:solidFill>
                <a:latin typeface="Calibri" pitchFamily="34" charset="0"/>
              </a:rPr>
              <a:t>Sergio Modino</a:t>
            </a:r>
          </a:p>
        </p:txBody>
      </p:sp>
      <p:sp>
        <p:nvSpPr>
          <p:cNvPr id="7" name="EmailTexto"/>
          <p:cNvSpPr/>
          <p:nvPr/>
        </p:nvSpPr>
        <p:spPr>
          <a:xfrm>
            <a:off x="457200" y="28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dirty="0">
                <a:solidFill>
                  <a:srgbClr val="BAE6FD"/>
                </a:solidFill>
                <a:latin typeface="Calibri" pitchFamily="34" charset="0"/>
              </a:rPr>
              <a:t>sergio@enoges.com</a:t>
            </a:r>
          </a:p>
        </p:txBody>
      </p:sp>
      <p:sp>
        <p:nvSpPr>
          <p:cNvPr id="8" name="GitHubBadge"/>
          <p:cNvSpPr/>
          <p:nvPr/>
        </p:nvSpPr>
        <p:spPr>
          <a:xfrm>
            <a:off x="1306773" y="3851595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24292E"/>
          </a:solidFill>
          <a:ln w="19050">
            <a:solidFill>
              <a:srgbClr val="444D5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 xml:space="preserve"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</a:rPr>
              <a:t>Linkedin</a:t>
            </a:r>
            <a:endParaRPr lang="en-US" sz="1100" b="1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9" name="LinkedInBadge"/>
          <p:cNvSpPr/>
          <p:nvPr/>
        </p:nvSpPr>
        <p:spPr>
          <a:xfrm>
            <a:off x="2983173" y="3851595"/>
            <a:ext cx="1524000" cy="381000"/>
          </a:xfrm>
          <a:prstGeom prst="roundRect">
            <a:avLst>
              <a:gd name="adj" fmla="val 20000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A66C2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</a:rPr>
              <a:t xml:space="preserve"> GitHub</a:t>
            </a:r>
          </a:p>
        </p:txBody>
      </p:sp>
      <p:sp>
        <p:nvSpPr>
          <p:cNvPr id="10" name="XBadge"/>
          <p:cNvSpPr/>
          <p:nvPr/>
        </p:nvSpPr>
        <p:spPr>
          <a:xfrm>
            <a:off x="4659573" y="3851595"/>
            <a:ext cx="1524000" cy="381000"/>
          </a:xfrm>
          <a:prstGeom prst="roundRect">
            <a:avLst>
              <a:gd name="adj" fmla="val 20000"/>
            </a:avLst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chemeClr val="bg1">
                <a:lumMod val="65000"/>
              </a:schemeClr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X  (Twitter)</a:t>
            </a:r>
          </a:p>
        </p:txBody>
      </p:sp>
      <p:sp>
        <p:nvSpPr>
          <p:cNvPr id="11" name="EmailBadge"/>
          <p:cNvSpPr/>
          <p:nvPr/>
        </p:nvSpPr>
        <p:spPr>
          <a:xfrm>
            <a:off x="6335973" y="3851595"/>
            <a:ext cx="1828800" cy="381000"/>
          </a:xfrm>
          <a:prstGeom prst="roundRect">
            <a:avLst>
              <a:gd name="adj" fmla="val 20000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6B6D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</a:rPr>
              <a:t xml:space="preserve">          sergio@enoges.com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6F0ADB-49C0-D77B-F75E-C9EEF6699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306" y="3927904"/>
            <a:ext cx="216573" cy="21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12556B3-2B4D-7BE6-AA30-D08FB153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342" y="3927904"/>
            <a:ext cx="244643" cy="24464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BB4E1DF-AA5C-CFE7-9E2F-EE7BFDCB9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036" y="3884998"/>
            <a:ext cx="324134" cy="3241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5697551061849B276A9A077527640" ma:contentTypeVersion="10" ma:contentTypeDescription="Create a new document." ma:contentTypeScope="" ma:versionID="fd710bba4b4d010891d2534bf89830e0">
  <xsd:schema xmlns:xsd="http://www.w3.org/2001/XMLSchema" xmlns:xs="http://www.w3.org/2001/XMLSchema" xmlns:p="http://schemas.microsoft.com/office/2006/metadata/properties" xmlns:ns3="5723a0f4-fd60-454e-941d-467c5ee9afbb" targetNamespace="http://schemas.microsoft.com/office/2006/metadata/properties" ma:root="true" ma:fieldsID="6e8a2607825bcee251e2203048dfcdda" ns3:_="">
    <xsd:import namespace="5723a0f4-fd60-454e-941d-467c5ee9af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3a0f4-fd60-454e-941d-467c5ee9af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723a0f4-fd60-454e-941d-467c5ee9afbb" xsi:nil="true"/>
  </documentManagement>
</p:properties>
</file>

<file path=customXml/itemProps1.xml><?xml version="1.0" encoding="utf-8"?>
<ds:datastoreItem xmlns:ds="http://schemas.openxmlformats.org/officeDocument/2006/customXml" ds:itemID="{5B525021-883A-492B-87C4-596D8BAFA7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3a0f4-fd60-454e-941d-467c5ee9af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820185-238E-4F7E-8F0C-7578CC4E53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B1397A-5CDA-4754-8648-5CF4AB469BB6}">
  <ds:schemaRefs>
    <ds:schemaRef ds:uri="5723a0f4-fd60-454e-941d-467c5ee9afbb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6085</Words>
  <Application>Microsoft Office PowerPoint</Application>
  <PresentationFormat>Presentación en pantalla (16:9)</PresentationFormat>
  <Paragraphs>977</Paragraphs>
  <Slides>46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0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Informática Forense con Python — Jornada 1</dc:title>
  <dc:subject>PptxGenJS Presentation</dc:subject>
  <dc:creator>GalileoForense</dc:creator>
  <cp:lastModifiedBy>Sergio Modino</cp:lastModifiedBy>
  <cp:revision>5</cp:revision>
  <dcterms:created xsi:type="dcterms:W3CDTF">2026-04-09T19:33:19Z</dcterms:created>
  <dcterms:modified xsi:type="dcterms:W3CDTF">2026-04-18T15:28:08Z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0x0101005845697551061849B276A9A077527640</vt:lpwstr>
  </property>
</Properties>
</file>